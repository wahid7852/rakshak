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1463040"/>
            <a:ext cx="8229600" cy="365760"/>
          </a:xfrm>
          <a:prstGeom prst="rect">
            <a:avLst/>
          </a:prstGeom>
          <a:noFill/>
        </p:spPr>
        <p:txBody>
          <a:bodyPr wrap="square">
            <a:spAutoFit/>
          </a:bodyPr>
          <a:lstStyle/>
          <a:p>
            <a:pPr algn="l">
              <a:lnSpc>
                <a:spcPct val="115000"/>
              </a:lnSpc>
            </a:pPr>
            <a:r>
              <a:rPr sz="1300" b="0" i="0">
                <a:solidFill>
                  <a:srgbClr val="4B3F7A"/>
                </a:solidFill>
                <a:latin typeface="Consolas"/>
              </a:rPr>
              <a:t>THEME 2 · QUANTUM MACHINE LEARNING FOR THREAT DETECTION</a:t>
            </a:r>
          </a:p>
        </p:txBody>
      </p:sp>
      <p:sp>
        <p:nvSpPr>
          <p:cNvPr id="3" name="TextBox 2"/>
          <p:cNvSpPr txBox="1"/>
          <p:nvPr/>
        </p:nvSpPr>
        <p:spPr>
          <a:xfrm>
            <a:off x="502920" y="1920240"/>
            <a:ext cx="9144000" cy="1188720"/>
          </a:xfrm>
          <a:prstGeom prst="rect">
            <a:avLst/>
          </a:prstGeom>
          <a:noFill/>
        </p:spPr>
        <p:txBody>
          <a:bodyPr wrap="square">
            <a:spAutoFit/>
          </a:bodyPr>
          <a:lstStyle/>
          <a:p>
            <a:pPr algn="l">
              <a:lnSpc>
                <a:spcPct val="115000"/>
              </a:lnSpc>
            </a:pPr>
            <a:r>
              <a:rPr sz="6400" b="1" i="0">
                <a:solidFill>
                  <a:srgbClr val="241F16"/>
                </a:solidFill>
                <a:latin typeface="Georgia"/>
              </a:rPr>
              <a:t>RAKSHAK</a:t>
            </a:r>
          </a:p>
        </p:txBody>
      </p:sp>
      <p:sp>
        <p:nvSpPr>
          <p:cNvPr id="4" name="TextBox 3"/>
          <p:cNvSpPr txBox="1"/>
          <p:nvPr/>
        </p:nvSpPr>
        <p:spPr>
          <a:xfrm>
            <a:off x="502920" y="3017520"/>
            <a:ext cx="8229600" cy="822960"/>
          </a:xfrm>
          <a:prstGeom prst="rect">
            <a:avLst/>
          </a:prstGeom>
          <a:noFill/>
        </p:spPr>
        <p:txBody>
          <a:bodyPr wrap="square">
            <a:spAutoFit/>
          </a:bodyPr>
          <a:lstStyle/>
          <a:p>
            <a:pPr algn="l">
              <a:lnSpc>
                <a:spcPct val="115000"/>
              </a:lnSpc>
            </a:pPr>
            <a:r>
              <a:rPr sz="1700" b="0" i="1">
                <a:solidFill>
                  <a:srgbClr val="6B6252"/>
                </a:solidFill>
                <a:latin typeface="Georgia"/>
              </a:rPr>
              <a:t>Quantum Malware Hunter: a hybrid classical and quantum cascade for</a:t>
            </a:r>
          </a:p>
          <a:p>
            <a:pPr algn="l">
              <a:lnSpc>
                <a:spcPct val="115000"/>
              </a:lnSpc>
            </a:pPr>
            <a:r>
              <a:rPr sz="1700" b="0" i="1">
                <a:solidFill>
                  <a:srgbClr val="6B6252"/>
                </a:solidFill>
                <a:latin typeface="Georgia"/>
              </a:rPr>
              <a:t>real-time malware and behavior-log threat detection.</a:t>
            </a:r>
          </a:p>
        </p:txBody>
      </p:sp>
      <p:sp>
        <p:nvSpPr>
          <p:cNvPr id="5" name="Rectangle 4"/>
          <p:cNvSpPr/>
          <p:nvPr/>
        </p:nvSpPr>
        <p:spPr>
          <a:xfrm>
            <a:off x="502920" y="603504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172200"/>
            <a:ext cx="8229600" cy="365760"/>
          </a:xfrm>
          <a:prstGeom prst="rect">
            <a:avLst/>
          </a:prstGeom>
          <a:noFill/>
        </p:spPr>
        <p:txBody>
          <a:bodyPr wrap="square">
            <a:spAutoFit/>
          </a:bodyPr>
          <a:lstStyle/>
          <a:p>
            <a:pPr algn="l">
              <a:lnSpc>
                <a:spcPct val="115000"/>
              </a:lnSpc>
            </a:pPr>
            <a:r>
              <a:rPr sz="1100" b="0" i="0">
                <a:solidFill>
                  <a:srgbClr val="6B6252"/>
                </a:solidFill>
                <a:latin typeface="Consolas"/>
              </a:rPr>
              <a:t>Garima Shrivastava  ·  Abdul Wahid Khan  ·  Anna Mariya Martin</a:t>
            </a:r>
          </a:p>
        </p:txBody>
      </p:sp>
      <p:sp>
        <p:nvSpPr>
          <p:cNvPr id="7" name="TextBox 6"/>
          <p:cNvSpPr txBox="1"/>
          <p:nvPr/>
        </p:nvSpPr>
        <p:spPr>
          <a:xfrm>
            <a:off x="7573975" y="6172200"/>
            <a:ext cx="4114800" cy="365760"/>
          </a:xfrm>
          <a:prstGeom prst="rect">
            <a:avLst/>
          </a:prstGeom>
          <a:noFill/>
        </p:spPr>
        <p:txBody>
          <a:bodyPr wrap="square">
            <a:spAutoFit/>
          </a:bodyPr>
          <a:lstStyle/>
          <a:p>
            <a:pPr algn="r">
              <a:lnSpc>
                <a:spcPct val="115000"/>
              </a:lnSpc>
            </a:pPr>
            <a:r>
              <a:rPr sz="1100" b="0" i="0">
                <a:solidFill>
                  <a:srgbClr val="6B6252"/>
                </a:solidFill>
                <a:latin typeface="Consolas"/>
              </a:rPr>
              <a:t>Local-first, HTTP + gRPC, Qt6 desktop console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PROBLEM</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01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Problem statement</a:t>
            </a:r>
          </a:p>
        </p:txBody>
      </p:sp>
      <p:sp>
        <p:nvSpPr>
          <p:cNvPr id="6" name="Rectangle 5"/>
          <p:cNvSpPr/>
          <p:nvPr/>
        </p:nvSpPr>
        <p:spPr>
          <a:xfrm>
            <a:off x="502920" y="960120"/>
            <a:ext cx="38100" cy="1737360"/>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960120"/>
            <a:ext cx="10957255" cy="1371600"/>
          </a:xfrm>
          <a:prstGeom prst="rect">
            <a:avLst/>
          </a:prstGeom>
          <a:noFill/>
        </p:spPr>
        <p:txBody>
          <a:bodyPr wrap="square">
            <a:spAutoFit/>
          </a:bodyPr>
          <a:lstStyle/>
          <a:p>
            <a:pPr algn="l">
              <a:lnSpc>
                <a:spcPct val="115000"/>
              </a:lnSpc>
            </a:pPr>
            <a:r>
              <a:rPr sz="1500" b="0" i="1">
                <a:solidFill>
                  <a:srgbClr val="241F16"/>
                </a:solidFill>
                <a:latin typeface="Georgia"/>
              </a:rPr>
              <a:t>Use quantum-enhanced ML to detect unknown malware patterns in real time. Build a hybrid AI system, classical and quantum, that predicts ransomware deployment patterns from user behavior logs.</a:t>
            </a:r>
          </a:p>
        </p:txBody>
      </p:sp>
      <p:sp>
        <p:nvSpPr>
          <p:cNvPr id="8" name="TextBox 7"/>
          <p:cNvSpPr txBox="1"/>
          <p:nvPr/>
        </p:nvSpPr>
        <p:spPr>
          <a:xfrm>
            <a:off x="731520" y="2331720"/>
            <a:ext cx="10957255" cy="365760"/>
          </a:xfrm>
          <a:prstGeom prst="rect">
            <a:avLst/>
          </a:prstGeom>
          <a:noFill/>
        </p:spPr>
        <p:txBody>
          <a:bodyPr wrap="square">
            <a:spAutoFit/>
          </a:bodyPr>
          <a:lstStyle/>
          <a:p>
            <a:pPr algn="l">
              <a:lnSpc>
                <a:spcPct val="115000"/>
              </a:lnSpc>
            </a:pPr>
            <a:r>
              <a:rPr sz="1000" b="0" i="0">
                <a:solidFill>
                  <a:srgbClr val="6B6252"/>
                </a:solidFill>
                <a:latin typeface="Consolas"/>
              </a:rPr>
              <a:t>Theme 2, “Quantum Malware Hunter &amp; AI + Quantum = Early Ransomware Detection”</a:t>
            </a:r>
          </a:p>
        </p:txBody>
      </p:sp>
      <p:sp>
        <p:nvSpPr>
          <p:cNvPr id="9" name="TextBox 8"/>
          <p:cNvSpPr txBox="1"/>
          <p:nvPr/>
        </p:nvSpPr>
        <p:spPr>
          <a:xfrm>
            <a:off x="502920" y="2926080"/>
            <a:ext cx="11185855" cy="1371600"/>
          </a:xfrm>
          <a:prstGeom prst="rect">
            <a:avLst/>
          </a:prstGeom>
          <a:noFill/>
        </p:spPr>
        <p:txBody>
          <a:bodyPr wrap="square">
            <a:spAutoFit/>
          </a:bodyPr>
          <a:lstStyle/>
          <a:p>
            <a:pPr algn="l">
              <a:lnSpc>
                <a:spcPct val="115000"/>
              </a:lnSpc>
            </a:pPr>
            <a:r>
              <a:rPr sz="1400" b="0" i="0">
                <a:solidFill>
                  <a:srgbClr val="241F16"/>
                </a:solidFill>
                <a:latin typeface="Calibri"/>
              </a:rPr>
              <a:t>The gap: signature-based tools only catch what they've already seen. Classical-only ML plateaus on borderline, never-seen cases. Most “quantum security” demos are quantum-only toy models, with no classical backbone, no real-time constraint, no system an operator could actually run.</a:t>
            </a:r>
          </a:p>
        </p:txBody>
      </p:sp>
      <p:sp>
        <p:nvSpPr>
          <p:cNvPr id="10" name="TextBox 9"/>
          <p:cNvSpPr txBox="1"/>
          <p:nvPr/>
        </p:nvSpPr>
        <p:spPr>
          <a:xfrm>
            <a:off x="502920" y="4297680"/>
            <a:ext cx="11185855" cy="1463040"/>
          </a:xfrm>
          <a:prstGeom prst="rect">
            <a:avLst/>
          </a:prstGeom>
          <a:noFill/>
        </p:spPr>
        <p:txBody>
          <a:bodyPr wrap="square">
            <a:spAutoFit/>
          </a:bodyPr>
          <a:lstStyle/>
          <a:p>
            <a:pPr algn="l">
              <a:lnSpc>
                <a:spcPct val="115000"/>
              </a:lnSpc>
            </a:pPr>
            <a:r>
              <a:rPr sz="1300" b="0" i="0">
                <a:solidFill>
                  <a:srgbClr val="6B6252"/>
                </a:solidFill>
                <a:latin typeface="Calibri"/>
              </a:rPr>
              <a:t>Ransomware has a shape before it detonates: mass file touches, auth anomalies, privilege-escalation attempts, all visible in ordinary behavior logs, minutes before the payload executes. The right answer scores that stream in real time and knows when to escalate an ambiguous case to a quantum judgment.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SOLUTION</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02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Solution overview</a:t>
            </a:r>
          </a:p>
        </p:txBody>
      </p:sp>
      <p:graphicFrame>
        <p:nvGraphicFramePr>
          <p:cNvPr id="6" name="Table 5"/>
          <p:cNvGraphicFramePr>
            <a:graphicFrameLocks noGrp="1"/>
          </p:cNvGraphicFramePr>
          <p:nvPr/>
        </p:nvGraphicFramePr>
        <p:xfrm>
          <a:off x="502920" y="960120"/>
          <a:ext cx="11185855" cy="5120640"/>
        </p:xfrm>
        <a:graphic>
          <a:graphicData uri="http://schemas.openxmlformats.org/drawingml/2006/table">
            <a:tbl>
              <a:tblPr firstRow="1" bandRow="1">
                <a:tableStyleId>{5C22544A-7EE6-4342-B048-85BDC9FD1C3A}</a:tableStyleId>
              </a:tblPr>
              <a:tblGrid>
                <a:gridCol w="3840480"/>
                <a:gridCol w="7345375"/>
              </a:tblGrid>
              <a:tr h="1024128">
                <a:tc>
                  <a:txBody>
                    <a:bodyPr/>
                    <a:lstStyle/>
                    <a:p>
                      <a:r>
                        <a:rPr sz="1200" b="0">
                          <a:solidFill>
                            <a:srgbClr val="6B6252"/>
                          </a:solidFill>
                          <a:latin typeface="Calibri"/>
                        </a:rPr>
                        <a:t>Hybrid AI system: classical + quantum</a:t>
                      </a:r>
                    </a:p>
                  </a:txBody>
                  <a:tcPr anchor="ctr">
                    <a:solidFill>
                      <a:srgbClr val="F4F1EA"/>
                    </a:solidFill>
                  </a:tcPr>
                </a:tc>
                <a:tc>
                  <a:txBody>
                    <a:bodyPr/>
                    <a:lstStyle/>
                    <a:p>
                      <a:r>
                        <a:rPr sz="1250" b="0">
                          <a:solidFill>
                            <a:srgbClr val="241F16"/>
                          </a:solidFill>
                          <a:latin typeface="Calibri"/>
                        </a:rPr>
                        <a:t>file_qsvc, a PennyLane quantum-embedded SVM, fused with classical detectors via confidence-weighted averaging. A real cascade stage, not a side demo.</a:t>
                      </a:r>
                    </a:p>
                  </a:txBody>
                  <a:tcPr anchor="ctr">
                    <a:solidFill>
                      <a:srgbClr val="F4F1EA"/>
                    </a:solidFill>
                  </a:tcPr>
                </a:tc>
              </a:tr>
              <a:tr h="1024128">
                <a:tc>
                  <a:txBody>
                    <a:bodyPr/>
                    <a:lstStyle/>
                    <a:p>
                      <a:r>
                        <a:rPr sz="1200" b="0">
                          <a:solidFill>
                            <a:srgbClr val="6B6252"/>
                          </a:solidFill>
                          <a:latin typeface="Calibri"/>
                        </a:rPr>
                        <a:t>Detect unknown malware patterns</a:t>
                      </a:r>
                    </a:p>
                  </a:txBody>
                  <a:tcPr anchor="ctr">
                    <a:solidFill>
                      <a:srgbClr val="F4F1EA"/>
                    </a:solidFill>
                  </a:tcPr>
                </a:tc>
                <a:tc>
                  <a:txBody>
                    <a:bodyPr/>
                    <a:lstStyle/>
                    <a:p>
                      <a:r>
                        <a:rPr sz="1250" b="0">
                          <a:solidFill>
                            <a:srgbClr val="241F16"/>
                          </a:solidFill>
                          <a:latin typeface="Calibri"/>
                        </a:rPr>
                        <a:t>log_hst / log_ngram calibrate online with no labels; file_static / file_ml_or_rf score learned structural features, not signatures.</a:t>
                      </a:r>
                    </a:p>
                  </a:txBody>
                  <a:tcPr anchor="ctr">
                    <a:solidFill>
                      <a:srgbClr val="F4F1EA"/>
                    </a:solidFill>
                  </a:tcPr>
                </a:tc>
              </a:tr>
              <a:tr h="1024128">
                <a:tc>
                  <a:txBody>
                    <a:bodyPr/>
                    <a:lstStyle/>
                    <a:p>
                      <a:r>
                        <a:rPr sz="1200" b="0">
                          <a:solidFill>
                            <a:srgbClr val="6B6252"/>
                          </a:solidFill>
                          <a:latin typeface="Calibri"/>
                        </a:rPr>
                        <a:t>Predict ransomware from behavior logs</a:t>
                      </a:r>
                    </a:p>
                  </a:txBody>
                  <a:tcPr anchor="ctr">
                    <a:solidFill>
                      <a:srgbClr val="F4F1EA"/>
                    </a:solidFill>
                  </a:tcPr>
                </a:tc>
                <a:tc>
                  <a:txBody>
                    <a:bodyPr/>
                    <a:lstStyle/>
                    <a:p>
                      <a:r>
                        <a:rPr sz="1250" b="0">
                          <a:solidFill>
                            <a:srgbClr val="241F16"/>
                          </a:solidFill>
                          <a:latin typeface="Calibri"/>
                        </a:rPr>
                        <a:t>The log cascade scores arbitrary log streams for anomalies in real time. Honestly: no ransomware-labeled model yet, positioned for it, not claiming it.</a:t>
                      </a:r>
                    </a:p>
                  </a:txBody>
                  <a:tcPr anchor="ctr">
                    <a:solidFill>
                      <a:srgbClr val="F4F1EA"/>
                    </a:solidFill>
                  </a:tcPr>
                </a:tc>
              </a:tr>
              <a:tr h="1024128">
                <a:tc>
                  <a:txBody>
                    <a:bodyPr/>
                    <a:lstStyle/>
                    <a:p>
                      <a:r>
                        <a:rPr sz="1200" b="0">
                          <a:solidFill>
                            <a:srgbClr val="6B6252"/>
                          </a:solidFill>
                          <a:latin typeface="Calibri"/>
                        </a:rPr>
                        <a:t>Real time</a:t>
                      </a:r>
                    </a:p>
                  </a:txBody>
                  <a:tcPr anchor="ctr">
                    <a:solidFill>
                      <a:srgbClr val="F4F1EA"/>
                    </a:solidFill>
                  </a:tcPr>
                </a:tc>
                <a:tc>
                  <a:txBody>
                    <a:bodyPr/>
                    <a:lstStyle/>
                    <a:p>
                      <a:r>
                        <a:rPr sz="1250" b="0">
                          <a:solidFill>
                            <a:srgbClr val="241F16"/>
                          </a:solidFill>
                          <a:latin typeface="Calibri"/>
                        </a:rPr>
                        <a:t>Latency-budgeted cascade: 5ms p95 per log event, 50ms for an initial file verdict, 250ms total with sandbox enrichment.</a:t>
                      </a:r>
                    </a:p>
                  </a:txBody>
                  <a:tcPr anchor="ctr">
                    <a:solidFill>
                      <a:srgbClr val="F4F1EA"/>
                    </a:solidFill>
                  </a:tcPr>
                </a:tc>
              </a:tr>
              <a:tr h="1024128">
                <a:tc>
                  <a:txBody>
                    <a:bodyPr/>
                    <a:lstStyle/>
                    <a:p>
                      <a:r>
                        <a:rPr sz="1200" b="0">
                          <a:solidFill>
                            <a:srgbClr val="6B6252"/>
                          </a:solidFill>
                          <a:latin typeface="Calibri"/>
                        </a:rPr>
                        <a:t>Dataset: simulated traffic or signatures</a:t>
                      </a:r>
                    </a:p>
                  </a:txBody>
                  <a:tcPr anchor="ctr">
                    <a:solidFill>
                      <a:srgbClr val="F4F1EA"/>
                    </a:solidFill>
                  </a:tcPr>
                </a:tc>
                <a:tc>
                  <a:txBody>
                    <a:bodyPr/>
                    <a:lstStyle/>
                    <a:p>
                      <a:r>
                        <a:rPr sz="1250" b="0">
                          <a:solidFill>
                            <a:srgbClr val="241F16"/>
                          </a:solidFill>
                          <a:latin typeface="Calibri"/>
                        </a:rPr>
                        <a:t>Real data instead: LogHub HDFS_v1 and EMBER2018, a deliberate upgrade over the suggested baseline.</a:t>
                      </a:r>
                    </a:p>
                  </a:txBody>
                  <a:tcPr anchor="ctr">
                    <a:solidFill>
                      <a:srgbClr val="F4F1E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ARCHITECTURE</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03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System architecture</a:t>
            </a:r>
          </a:p>
        </p:txBody>
      </p:sp>
      <p:sp>
        <p:nvSpPr>
          <p:cNvPr id="6" name="Rectangle 5"/>
          <p:cNvSpPr/>
          <p:nvPr/>
        </p:nvSpPr>
        <p:spPr>
          <a:xfrm>
            <a:off x="1752447" y="1051560"/>
            <a:ext cx="868680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Qt6 desktop client: dashboard, scan, log analysis, quarantine, settings</a:t>
            </a:r>
          </a:p>
        </p:txBody>
      </p:sp>
      <p:sp>
        <p:nvSpPr>
          <p:cNvPr id="7" name="Rectangle 6"/>
          <p:cNvSpPr/>
          <p:nvPr/>
        </p:nvSpPr>
        <p:spPr>
          <a:xfrm>
            <a:off x="1752447" y="1618488"/>
            <a:ext cx="420624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FastAPI (REST)</a:t>
            </a:r>
          </a:p>
        </p:txBody>
      </p:sp>
      <p:sp>
        <p:nvSpPr>
          <p:cNvPr id="8" name="Rectangle 7"/>
          <p:cNvSpPr/>
          <p:nvPr/>
        </p:nvSpPr>
        <p:spPr>
          <a:xfrm>
            <a:off x="6233007" y="1618488"/>
            <a:ext cx="420624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gRPC Decider service</a:t>
            </a:r>
          </a:p>
        </p:txBody>
      </p:sp>
      <p:sp>
        <p:nvSpPr>
          <p:cNvPr id="9" name="Rectangle 8"/>
          <p:cNvSpPr/>
          <p:nvPr/>
        </p:nvSpPr>
        <p:spPr>
          <a:xfrm>
            <a:off x="1752447" y="2185416"/>
            <a:ext cx="868680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Auth and rate limits: x-api-key header</a:t>
            </a:r>
          </a:p>
        </p:txBody>
      </p:sp>
      <p:sp>
        <p:nvSpPr>
          <p:cNvPr id="10" name="Rectangle 9"/>
          <p:cNvSpPr/>
          <p:nvPr/>
        </p:nvSpPr>
        <p:spPr>
          <a:xfrm>
            <a:off x="1752447" y="2752344"/>
            <a:ext cx="868680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Router.decide(Event)</a:t>
            </a:r>
          </a:p>
        </p:txBody>
      </p:sp>
      <p:sp>
        <p:nvSpPr>
          <p:cNvPr id="11" name="Rectangle 10"/>
          <p:cNvSpPr/>
          <p:nvPr/>
        </p:nvSpPr>
        <p:spPr>
          <a:xfrm>
            <a:off x="1752447" y="3319272"/>
            <a:ext cx="868680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Detector registry</a:t>
            </a:r>
          </a:p>
        </p:txBody>
      </p:sp>
      <p:sp>
        <p:nvSpPr>
          <p:cNvPr id="12" name="TextBox 11"/>
          <p:cNvSpPr txBox="1"/>
          <p:nvPr/>
        </p:nvSpPr>
        <p:spPr>
          <a:xfrm>
            <a:off x="1752447" y="3913632"/>
            <a:ext cx="4206240" cy="274320"/>
          </a:xfrm>
          <a:prstGeom prst="rect">
            <a:avLst/>
          </a:prstGeom>
          <a:noFill/>
        </p:spPr>
        <p:txBody>
          <a:bodyPr wrap="square">
            <a:spAutoFit/>
          </a:bodyPr>
          <a:lstStyle/>
          <a:p>
            <a:pPr algn="l">
              <a:lnSpc>
                <a:spcPct val="115000"/>
              </a:lnSpc>
            </a:pPr>
            <a:r>
              <a:rPr sz="900" b="0" i="0">
                <a:solidFill>
                  <a:srgbClr val="6B6252"/>
                </a:solidFill>
                <a:latin typeface="Consolas"/>
              </a:rPr>
              <a:t>LOG PATH</a:t>
            </a:r>
          </a:p>
        </p:txBody>
      </p:sp>
      <p:sp>
        <p:nvSpPr>
          <p:cNvPr id="13" name="TextBox 12"/>
          <p:cNvSpPr txBox="1"/>
          <p:nvPr/>
        </p:nvSpPr>
        <p:spPr>
          <a:xfrm>
            <a:off x="6233007" y="3913632"/>
            <a:ext cx="4206240" cy="274320"/>
          </a:xfrm>
          <a:prstGeom prst="rect">
            <a:avLst/>
          </a:prstGeom>
          <a:noFill/>
        </p:spPr>
        <p:txBody>
          <a:bodyPr wrap="square">
            <a:spAutoFit/>
          </a:bodyPr>
          <a:lstStyle/>
          <a:p>
            <a:pPr algn="l">
              <a:lnSpc>
                <a:spcPct val="115000"/>
              </a:lnSpc>
            </a:pPr>
            <a:r>
              <a:rPr sz="900" b="0" i="0">
                <a:solidFill>
                  <a:srgbClr val="6B6252"/>
                </a:solidFill>
                <a:latin typeface="Consolas"/>
              </a:rPr>
              <a:t>FILE PATH</a:t>
            </a:r>
          </a:p>
        </p:txBody>
      </p:sp>
      <p:sp>
        <p:nvSpPr>
          <p:cNvPr id="14" name="Rectangle 13"/>
          <p:cNvSpPr/>
          <p:nvPr/>
        </p:nvSpPr>
        <p:spPr>
          <a:xfrm>
            <a:off x="1752447" y="4206240"/>
            <a:ext cx="4206240" cy="384048"/>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log_ngram</a:t>
            </a:r>
          </a:p>
        </p:txBody>
      </p:sp>
      <p:sp>
        <p:nvSpPr>
          <p:cNvPr id="15" name="Rectangle 14"/>
          <p:cNvSpPr/>
          <p:nvPr/>
        </p:nvSpPr>
        <p:spPr>
          <a:xfrm>
            <a:off x="1752447" y="4645152"/>
            <a:ext cx="4206240" cy="384048"/>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log_hst</a:t>
            </a:r>
          </a:p>
        </p:txBody>
      </p:sp>
      <p:sp>
        <p:nvSpPr>
          <p:cNvPr id="16" name="Rectangle 15"/>
          <p:cNvSpPr/>
          <p:nvPr/>
        </p:nvSpPr>
        <p:spPr>
          <a:xfrm>
            <a:off x="1752447" y="5084064"/>
            <a:ext cx="4206240" cy="384048"/>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log_sgd</a:t>
            </a:r>
          </a:p>
        </p:txBody>
      </p:sp>
      <p:sp>
        <p:nvSpPr>
          <p:cNvPr id="17" name="Rectangle 16"/>
          <p:cNvSpPr/>
          <p:nvPr/>
        </p:nvSpPr>
        <p:spPr>
          <a:xfrm>
            <a:off x="6233007" y="4206240"/>
            <a:ext cx="4206240" cy="384048"/>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file_static</a:t>
            </a:r>
          </a:p>
        </p:txBody>
      </p:sp>
      <p:sp>
        <p:nvSpPr>
          <p:cNvPr id="18" name="Rectangle 17"/>
          <p:cNvSpPr/>
          <p:nvPr/>
        </p:nvSpPr>
        <p:spPr>
          <a:xfrm>
            <a:off x="6233007" y="4645152"/>
            <a:ext cx="4206240" cy="384048"/>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file_ml_or_rf</a:t>
            </a:r>
          </a:p>
        </p:txBody>
      </p:sp>
      <p:sp>
        <p:nvSpPr>
          <p:cNvPr id="19" name="Rectangle 18"/>
          <p:cNvSpPr/>
          <p:nvPr/>
        </p:nvSpPr>
        <p:spPr>
          <a:xfrm>
            <a:off x="6233007" y="5084064"/>
            <a:ext cx="4206240" cy="384048"/>
          </a:xfrm>
          <a:prstGeom prst="rect">
            <a:avLst/>
          </a:prstGeom>
          <a:solidFill>
            <a:srgbClr val="EAE4D4"/>
          </a:solidFill>
          <a:ln w="12700">
            <a:solidFill>
              <a:srgbClr val="C7BCA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6B6252"/>
                </a:solidFill>
                <a:latin typeface="Consolas"/>
              </a:rPr>
              <a:t>borderline score? escalate</a:t>
            </a:r>
          </a:p>
        </p:txBody>
      </p:sp>
      <p:sp>
        <p:nvSpPr>
          <p:cNvPr id="20" name="Rectangle 19"/>
          <p:cNvSpPr/>
          <p:nvPr/>
        </p:nvSpPr>
        <p:spPr>
          <a:xfrm>
            <a:off x="6233007" y="5522976"/>
            <a:ext cx="4206240" cy="384048"/>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file_sandbox_signal, bwrap isolated</a:t>
            </a:r>
          </a:p>
        </p:txBody>
      </p:sp>
      <p:sp>
        <p:nvSpPr>
          <p:cNvPr id="21" name="Rectangle 20"/>
          <p:cNvSpPr/>
          <p:nvPr/>
        </p:nvSpPr>
        <p:spPr>
          <a:xfrm>
            <a:off x="6233007" y="5961888"/>
            <a:ext cx="4206240" cy="384048"/>
          </a:xfrm>
          <a:prstGeom prst="rect">
            <a:avLst/>
          </a:prstGeom>
          <a:solidFill>
            <a:srgbClr val="EAE4D4"/>
          </a:solidFill>
          <a:ln w="12700">
            <a:solidFill>
              <a:srgbClr val="4B3F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4B3F7A"/>
                </a:solidFill>
                <a:latin typeface="Consolas"/>
              </a:rPr>
              <a:t>file_qsvc, quantum SVM</a:t>
            </a:r>
          </a:p>
        </p:txBody>
      </p:sp>
      <p:sp>
        <p:nvSpPr>
          <p:cNvPr id="22" name="Rectangle 21"/>
          <p:cNvSpPr/>
          <p:nvPr/>
        </p:nvSpPr>
        <p:spPr>
          <a:xfrm>
            <a:off x="1752447" y="6492240"/>
            <a:ext cx="868680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Confidence-weighted fusion</a:t>
            </a:r>
          </a:p>
        </p:txBody>
      </p:sp>
      <p:sp>
        <p:nvSpPr>
          <p:cNvPr id="23" name="Rectangle 22"/>
          <p:cNvSpPr/>
          <p:nvPr/>
        </p:nvSpPr>
        <p:spPr>
          <a:xfrm>
            <a:off x="1752447" y="7040880"/>
            <a:ext cx="868680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Verdict: score, confidence, suspicious or malicious</a:t>
            </a:r>
          </a:p>
        </p:txBody>
      </p:sp>
      <p:sp>
        <p:nvSpPr>
          <p:cNvPr id="24" name="Rectangle 23"/>
          <p:cNvSpPr/>
          <p:nvPr/>
        </p:nvSpPr>
        <p:spPr>
          <a:xfrm>
            <a:off x="1752447" y="7589520"/>
            <a:ext cx="8686800" cy="457200"/>
          </a:xfrm>
          <a:prstGeom prst="rect">
            <a:avLst/>
          </a:prstGeom>
          <a:solidFill>
            <a:srgbClr val="EAE4D4"/>
          </a:solidFill>
          <a:ln w="12700">
            <a:solidFill>
              <a:srgbClr val="B5502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B5502A"/>
                </a:solidFill>
                <a:latin typeface="Consolas"/>
              </a:rPr>
              <a:t>Encrypted quarantine, Fernet + HMAC (confidence 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DETECTORS</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04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Detection models and results</a:t>
            </a:r>
          </a:p>
        </p:txBody>
      </p:sp>
      <p:graphicFrame>
        <p:nvGraphicFramePr>
          <p:cNvPr id="6" name="Table 5"/>
          <p:cNvGraphicFramePr>
            <a:graphicFrameLocks noGrp="1"/>
          </p:cNvGraphicFramePr>
          <p:nvPr/>
        </p:nvGraphicFramePr>
        <p:xfrm>
          <a:off x="502920" y="1005840"/>
          <a:ext cx="10789920" cy="3291840"/>
        </p:xfrm>
        <a:graphic>
          <a:graphicData uri="http://schemas.openxmlformats.org/drawingml/2006/table">
            <a:tbl>
              <a:tblPr firstRow="1" bandRow="1">
                <a:tableStyleId>{5C22544A-7EE6-4342-B048-85BDC9FD1C3A}</a:tableStyleId>
              </a:tblPr>
              <a:tblGrid>
                <a:gridCol w="2377440"/>
                <a:gridCol w="2560320"/>
                <a:gridCol w="2560320"/>
                <a:gridCol w="3291840"/>
              </a:tblGrid>
              <a:tr h="470262">
                <a:tc>
                  <a:txBody>
                    <a:bodyPr/>
                    <a:lstStyle/>
                    <a:p>
                      <a:r>
                        <a:rPr sz="1100" b="1">
                          <a:solidFill>
                            <a:srgbClr val="6B6252"/>
                          </a:solidFill>
                          <a:latin typeface="Consolas"/>
                        </a:rPr>
                        <a:t>Detector</a:t>
                      </a:r>
                    </a:p>
                  </a:txBody>
                  <a:tcPr>
                    <a:solidFill>
                      <a:srgbClr val="EAE4D4"/>
                    </a:solidFill>
                  </a:tcPr>
                </a:tc>
                <a:tc>
                  <a:txBody>
                    <a:bodyPr/>
                    <a:lstStyle/>
                    <a:p>
                      <a:r>
                        <a:rPr sz="1100" b="1">
                          <a:solidFill>
                            <a:srgbClr val="6B6252"/>
                          </a:solidFill>
                          <a:latin typeface="Consolas"/>
                        </a:rPr>
                        <a:t>Type</a:t>
                      </a:r>
                    </a:p>
                  </a:txBody>
                  <a:tcPr>
                    <a:solidFill>
                      <a:srgbClr val="EAE4D4"/>
                    </a:solidFill>
                  </a:tcPr>
                </a:tc>
                <a:tc>
                  <a:txBody>
                    <a:bodyPr/>
                    <a:lstStyle/>
                    <a:p>
                      <a:r>
                        <a:rPr sz="1100" b="1">
                          <a:solidFill>
                            <a:srgbClr val="6B6252"/>
                          </a:solidFill>
                          <a:latin typeface="Consolas"/>
                        </a:rPr>
                        <a:t>Trained on</a:t>
                      </a:r>
                    </a:p>
                  </a:txBody>
                  <a:tcPr>
                    <a:solidFill>
                      <a:srgbClr val="EAE4D4"/>
                    </a:solidFill>
                  </a:tcPr>
                </a:tc>
                <a:tc>
                  <a:txBody>
                    <a:bodyPr/>
                    <a:lstStyle/>
                    <a:p>
                      <a:r>
                        <a:rPr sz="1100" b="1">
                          <a:solidFill>
                            <a:srgbClr val="6B6252"/>
                          </a:solidFill>
                          <a:latin typeface="Consolas"/>
                        </a:rPr>
                        <a:t>Measured</a:t>
                      </a:r>
                    </a:p>
                  </a:txBody>
                  <a:tcPr>
                    <a:solidFill>
                      <a:srgbClr val="EAE4D4"/>
                    </a:solidFill>
                  </a:tcPr>
                </a:tc>
              </a:tr>
              <a:tr h="470262">
                <a:tc>
                  <a:txBody>
                    <a:bodyPr/>
                    <a:lstStyle/>
                    <a:p>
                      <a:r>
                        <a:rPr sz="1200" b="0">
                          <a:solidFill>
                            <a:srgbClr val="241F16"/>
                          </a:solidFill>
                          <a:latin typeface="Calibri"/>
                        </a:rPr>
                        <a:t>log_ngram / log_hst</a:t>
                      </a:r>
                    </a:p>
                  </a:txBody>
                  <a:tcPr>
                    <a:solidFill>
                      <a:srgbClr val="F4F1EA"/>
                    </a:solidFill>
                  </a:tcPr>
                </a:tc>
                <a:tc>
                  <a:txBody>
                    <a:bodyPr/>
                    <a:lstStyle/>
                    <a:p>
                      <a:r>
                        <a:rPr sz="1200" b="0">
                          <a:solidFill>
                            <a:srgbClr val="241F16"/>
                          </a:solidFill>
                          <a:latin typeface="Calibri"/>
                        </a:rPr>
                        <a:t>Unsupervised, online</a:t>
                      </a:r>
                    </a:p>
                  </a:txBody>
                  <a:tcPr>
                    <a:solidFill>
                      <a:srgbClr val="F4F1EA"/>
                    </a:solidFill>
                  </a:tcPr>
                </a:tc>
                <a:tc>
                  <a:txBody>
                    <a:bodyPr/>
                    <a:lstStyle/>
                    <a:p>
                      <a:r>
                        <a:rPr sz="1200" b="0">
                          <a:solidFill>
                            <a:srgbClr val="241F16"/>
                          </a:solidFill>
                          <a:latin typeface="Calibri"/>
                        </a:rPr>
                        <a:t>none, calibrates live</a:t>
                      </a:r>
                    </a:p>
                  </a:txBody>
                  <a:tcPr>
                    <a:solidFill>
                      <a:srgbClr val="F4F1EA"/>
                    </a:solidFill>
                  </a:tcPr>
                </a:tc>
                <a:tc>
                  <a:txBody>
                    <a:bodyPr/>
                    <a:lstStyle/>
                    <a:p>
                      <a:r>
                        <a:rPr sz="1200" b="0">
                          <a:solidFill>
                            <a:srgbClr val="241F16"/>
                          </a:solidFill>
                          <a:latin typeface="Calibri"/>
                        </a:rPr>
                        <a:t>non-constant scores, verified</a:t>
                      </a:r>
                    </a:p>
                  </a:txBody>
                  <a:tcPr>
                    <a:solidFill>
                      <a:srgbClr val="F4F1EA"/>
                    </a:solidFill>
                  </a:tcPr>
                </a:tc>
              </a:tr>
              <a:tr h="470262">
                <a:tc>
                  <a:txBody>
                    <a:bodyPr/>
                    <a:lstStyle/>
                    <a:p>
                      <a:r>
                        <a:rPr sz="1200" b="0">
                          <a:solidFill>
                            <a:srgbClr val="241F16"/>
                          </a:solidFill>
                          <a:latin typeface="Calibri"/>
                        </a:rPr>
                        <a:t>log_sgd</a:t>
                      </a:r>
                    </a:p>
                  </a:txBody>
                  <a:tcPr>
                    <a:solidFill>
                      <a:srgbClr val="F4F1EA"/>
                    </a:solidFill>
                  </a:tcPr>
                </a:tc>
                <a:tc>
                  <a:txBody>
                    <a:bodyPr/>
                    <a:lstStyle/>
                    <a:p>
                      <a:r>
                        <a:rPr sz="1200" b="0">
                          <a:solidFill>
                            <a:srgbClr val="241F16"/>
                          </a:solidFill>
                          <a:latin typeface="Calibri"/>
                        </a:rPr>
                        <a:t>Supervised, online</a:t>
                      </a:r>
                    </a:p>
                  </a:txBody>
                  <a:tcPr>
                    <a:solidFill>
                      <a:srgbClr val="F4F1EA"/>
                    </a:solidFill>
                  </a:tcPr>
                </a:tc>
                <a:tc>
                  <a:txBody>
                    <a:bodyPr/>
                    <a:lstStyle/>
                    <a:p>
                      <a:r>
                        <a:rPr sz="1200" b="0">
                          <a:solidFill>
                            <a:srgbClr val="241F16"/>
                          </a:solidFill>
                          <a:latin typeface="Calibri"/>
                        </a:rPr>
                        <a:t>LogHub HDFS_v1</a:t>
                      </a:r>
                    </a:p>
                  </a:txBody>
                  <a:tcPr>
                    <a:solidFill>
                      <a:srgbClr val="F4F1EA"/>
                    </a:solidFill>
                  </a:tcPr>
                </a:tc>
                <a:tc>
                  <a:txBody>
                    <a:bodyPr/>
                    <a:lstStyle/>
                    <a:p>
                      <a:r>
                        <a:rPr sz="1200" b="0">
                          <a:solidFill>
                            <a:srgbClr val="241F16"/>
                          </a:solidFill>
                          <a:latin typeface="Calibri"/>
                        </a:rPr>
                        <a:t>acc 0.9953 · AUC 0.9823</a:t>
                      </a:r>
                    </a:p>
                  </a:txBody>
                  <a:tcPr>
                    <a:solidFill>
                      <a:srgbClr val="F4F1EA"/>
                    </a:solidFill>
                  </a:tcPr>
                </a:tc>
              </a:tr>
              <a:tr h="470262">
                <a:tc>
                  <a:txBody>
                    <a:bodyPr/>
                    <a:lstStyle/>
                    <a:p>
                      <a:r>
                        <a:rPr sz="1200" b="0">
                          <a:solidFill>
                            <a:srgbClr val="241F16"/>
                          </a:solidFill>
                          <a:latin typeface="Calibri"/>
                        </a:rPr>
                        <a:t>file_static</a:t>
                      </a:r>
                    </a:p>
                  </a:txBody>
                  <a:tcPr>
                    <a:solidFill>
                      <a:srgbClr val="F4F1EA"/>
                    </a:solidFill>
                  </a:tcPr>
                </a:tc>
                <a:tc>
                  <a:txBody>
                    <a:bodyPr/>
                    <a:lstStyle/>
                    <a:p>
                      <a:r>
                        <a:rPr sz="1200" b="0">
                          <a:solidFill>
                            <a:srgbClr val="241F16"/>
                          </a:solidFill>
                          <a:latin typeface="Calibri"/>
                        </a:rPr>
                        <a:t>Heuristic</a:t>
                      </a:r>
                    </a:p>
                  </a:txBody>
                  <a:tcPr>
                    <a:solidFill>
                      <a:srgbClr val="F4F1EA"/>
                    </a:solidFill>
                  </a:tcPr>
                </a:tc>
                <a:tc>
                  <a:txBody>
                    <a:bodyPr/>
                    <a:lstStyle/>
                    <a:p>
                      <a:r>
                        <a:rPr sz="1200" b="0">
                          <a:solidFill>
                            <a:srgbClr val="241F16"/>
                          </a:solidFill>
                          <a:latin typeface="Calibri"/>
                        </a:rPr>
                        <a:t>none</a:t>
                      </a:r>
                    </a:p>
                  </a:txBody>
                  <a:tcPr>
                    <a:solidFill>
                      <a:srgbClr val="F4F1EA"/>
                    </a:solidFill>
                  </a:tcPr>
                </a:tc>
                <a:tc>
                  <a:txBody>
                    <a:bodyPr/>
                    <a:lstStyle/>
                    <a:p>
                      <a:r>
                        <a:rPr sz="1200" b="0">
                          <a:solidFill>
                            <a:srgbClr val="241F16"/>
                          </a:solidFill>
                          <a:latin typeface="Calibri"/>
                        </a:rPr>
                        <a:t>entropy/header triage, always first</a:t>
                      </a:r>
                    </a:p>
                  </a:txBody>
                  <a:tcPr>
                    <a:solidFill>
                      <a:srgbClr val="F4F1EA"/>
                    </a:solidFill>
                  </a:tcPr>
                </a:tc>
              </a:tr>
              <a:tr h="470262">
                <a:tc>
                  <a:txBody>
                    <a:bodyPr/>
                    <a:lstStyle/>
                    <a:p>
                      <a:r>
                        <a:rPr sz="1200" b="0">
                          <a:solidFill>
                            <a:srgbClr val="241F16"/>
                          </a:solidFill>
                          <a:latin typeface="Calibri"/>
                        </a:rPr>
                        <a:t>file_ml_or_rf</a:t>
                      </a:r>
                    </a:p>
                  </a:txBody>
                  <a:tcPr>
                    <a:solidFill>
                      <a:srgbClr val="F4F1EA"/>
                    </a:solidFill>
                  </a:tcPr>
                </a:tc>
                <a:tc>
                  <a:txBody>
                    <a:bodyPr/>
                    <a:lstStyle/>
                    <a:p>
                      <a:r>
                        <a:rPr sz="1200" b="0">
                          <a:solidFill>
                            <a:srgbClr val="241F16"/>
                          </a:solidFill>
                          <a:latin typeface="Calibri"/>
                        </a:rPr>
                        <a:t>Supervised (LightGBM)</a:t>
                      </a:r>
                    </a:p>
                  </a:txBody>
                  <a:tcPr>
                    <a:solidFill>
                      <a:srgbClr val="F4F1EA"/>
                    </a:solidFill>
                  </a:tcPr>
                </a:tc>
                <a:tc>
                  <a:txBody>
                    <a:bodyPr/>
                    <a:lstStyle/>
                    <a:p>
                      <a:r>
                        <a:rPr sz="1200" b="0">
                          <a:solidFill>
                            <a:srgbClr val="241F16"/>
                          </a:solidFill>
                          <a:latin typeface="Calibri"/>
                        </a:rPr>
                        <a:t>EMBER2018</a:t>
                      </a:r>
                    </a:p>
                  </a:txBody>
                  <a:tcPr>
                    <a:solidFill>
                      <a:srgbClr val="F4F1EA"/>
                    </a:solidFill>
                  </a:tcPr>
                </a:tc>
                <a:tc>
                  <a:txBody>
                    <a:bodyPr/>
                    <a:lstStyle/>
                    <a:p>
                      <a:r>
                        <a:rPr sz="1200" b="0">
                          <a:solidFill>
                            <a:srgbClr val="241F16"/>
                          </a:solidFill>
                          <a:latin typeface="Calibri"/>
                        </a:rPr>
                        <a:t>acc 0.9491 · AUC 0.9891</a:t>
                      </a:r>
                    </a:p>
                  </a:txBody>
                  <a:tcPr>
                    <a:solidFill>
                      <a:srgbClr val="F4F1EA"/>
                    </a:solidFill>
                  </a:tcPr>
                </a:tc>
              </a:tr>
              <a:tr h="470262">
                <a:tc>
                  <a:txBody>
                    <a:bodyPr/>
                    <a:lstStyle/>
                    <a:p>
                      <a:r>
                        <a:rPr sz="1200" b="0">
                          <a:solidFill>
                            <a:srgbClr val="241F16"/>
                          </a:solidFill>
                          <a:latin typeface="Calibri"/>
                        </a:rPr>
                        <a:t>file_sandbox_signal</a:t>
                      </a:r>
                    </a:p>
                  </a:txBody>
                  <a:tcPr>
                    <a:solidFill>
                      <a:srgbClr val="F4F1EA"/>
                    </a:solidFill>
                  </a:tcPr>
                </a:tc>
                <a:tc>
                  <a:txBody>
                    <a:bodyPr/>
                    <a:lstStyle/>
                    <a:p>
                      <a:r>
                        <a:rPr sz="1200" b="0">
                          <a:solidFill>
                            <a:srgbClr val="241F16"/>
                          </a:solidFill>
                          <a:latin typeface="Calibri"/>
                        </a:rPr>
                        <a:t>Static enrichment</a:t>
                      </a:r>
                    </a:p>
                  </a:txBody>
                  <a:tcPr>
                    <a:solidFill>
                      <a:srgbClr val="F4F1EA"/>
                    </a:solidFill>
                  </a:tcPr>
                </a:tc>
                <a:tc>
                  <a:txBody>
                    <a:bodyPr/>
                    <a:lstStyle/>
                    <a:p>
                      <a:r>
                        <a:rPr sz="1200" b="0">
                          <a:solidFill>
                            <a:srgbClr val="241F16"/>
                          </a:solidFill>
                          <a:latin typeface="Calibri"/>
                        </a:rPr>
                        <a:t>n/a</a:t>
                      </a:r>
                    </a:p>
                  </a:txBody>
                  <a:tcPr>
                    <a:solidFill>
                      <a:srgbClr val="F4F1EA"/>
                    </a:solidFill>
                  </a:tcPr>
                </a:tc>
                <a:tc>
                  <a:txBody>
                    <a:bodyPr/>
                    <a:lstStyle/>
                    <a:p>
                      <a:r>
                        <a:rPr sz="1200" b="0">
                          <a:solidFill>
                            <a:srgbClr val="241F16"/>
                          </a:solidFill>
                          <a:latin typeface="Calibri"/>
                        </a:rPr>
                        <a:t>read-only, bwrap-isolated, never executes</a:t>
                      </a:r>
                    </a:p>
                  </a:txBody>
                  <a:tcPr>
                    <a:solidFill>
                      <a:srgbClr val="F4F1EA"/>
                    </a:solidFill>
                  </a:tcPr>
                </a:tc>
              </a:tr>
              <a:tr h="470268">
                <a:tc>
                  <a:txBody>
                    <a:bodyPr/>
                    <a:lstStyle/>
                    <a:p>
                      <a:r>
                        <a:rPr sz="1200" b="0">
                          <a:solidFill>
                            <a:srgbClr val="4B3F7A"/>
                          </a:solidFill>
                          <a:latin typeface="Calibri"/>
                        </a:rPr>
                        <a:t>file_qsvc</a:t>
                      </a:r>
                    </a:p>
                  </a:txBody>
                  <a:tcPr>
                    <a:solidFill>
                      <a:srgbClr val="F4F1EA"/>
                    </a:solidFill>
                  </a:tcPr>
                </a:tc>
                <a:tc>
                  <a:txBody>
                    <a:bodyPr/>
                    <a:lstStyle/>
                    <a:p>
                      <a:r>
                        <a:rPr sz="1200" b="0">
                          <a:solidFill>
                            <a:srgbClr val="4B3F7A"/>
                          </a:solidFill>
                          <a:latin typeface="Calibri"/>
                        </a:rPr>
                        <a:t>Hybrid classical + quantum</a:t>
                      </a:r>
                    </a:p>
                  </a:txBody>
                  <a:tcPr>
                    <a:solidFill>
                      <a:srgbClr val="F4F1EA"/>
                    </a:solidFill>
                  </a:tcPr>
                </a:tc>
                <a:tc>
                  <a:txBody>
                    <a:bodyPr/>
                    <a:lstStyle/>
                    <a:p>
                      <a:r>
                        <a:rPr sz="1200" b="0">
                          <a:solidFill>
                            <a:srgbClr val="4B3F7A"/>
                          </a:solidFill>
                          <a:latin typeface="Calibri"/>
                        </a:rPr>
                        <a:t>EMBER2018 subset</a:t>
                      </a:r>
                    </a:p>
                  </a:txBody>
                  <a:tcPr>
                    <a:solidFill>
                      <a:srgbClr val="F4F1EA"/>
                    </a:solidFill>
                  </a:tcPr>
                </a:tc>
                <a:tc>
                  <a:txBody>
                    <a:bodyPr/>
                    <a:lstStyle/>
                    <a:p>
                      <a:r>
                        <a:rPr sz="1200" b="0">
                          <a:solidFill>
                            <a:srgbClr val="4B3F7A"/>
                          </a:solidFill>
                          <a:latin typeface="Calibri"/>
                        </a:rPr>
                        <a:t>acc 0.6575 · AUC 0.6911</a:t>
                      </a:r>
                    </a:p>
                  </a:txBody>
                  <a:tcPr>
                    <a:solidFill>
                      <a:srgbClr val="F4F1EA"/>
                    </a:solidFill>
                  </a:tcPr>
                </a:tc>
              </a:tr>
            </a:tbl>
          </a:graphicData>
        </a:graphic>
      </p:graphicFrame>
      <p:sp>
        <p:nvSpPr>
          <p:cNvPr id="7" name="TextBox 6"/>
          <p:cNvSpPr txBox="1"/>
          <p:nvPr/>
        </p:nvSpPr>
        <p:spPr>
          <a:xfrm>
            <a:off x="502920" y="4572000"/>
            <a:ext cx="11185855" cy="457200"/>
          </a:xfrm>
          <a:prstGeom prst="rect">
            <a:avLst/>
          </a:prstGeom>
          <a:noFill/>
        </p:spPr>
        <p:txBody>
          <a:bodyPr wrap="square">
            <a:spAutoFit/>
          </a:bodyPr>
          <a:lstStyle/>
          <a:p>
            <a:pPr algn="l">
              <a:lnSpc>
                <a:spcPct val="115000"/>
              </a:lnSpc>
            </a:pPr>
            <a:r>
              <a:rPr sz="1200" b="0" i="0">
                <a:solidFill>
                  <a:srgbClr val="6B6252"/>
                </a:solidFill>
                <a:latin typeface="Calibri"/>
              </a:rPr>
              <a:t>The quantum stage's AUC is documented in-repo as “modest,” the honest weak link. Nothing here is invented for the pitch.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FUSION</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05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Decision fusion logic</a:t>
            </a:r>
          </a:p>
        </p:txBody>
      </p:sp>
      <p:sp>
        <p:nvSpPr>
          <p:cNvPr id="6" name="TextBox 5"/>
          <p:cNvSpPr txBox="1"/>
          <p:nvPr/>
        </p:nvSpPr>
        <p:spPr>
          <a:xfrm>
            <a:off x="502920" y="1005840"/>
            <a:ext cx="11185855" cy="914400"/>
          </a:xfrm>
          <a:prstGeom prst="rect">
            <a:avLst/>
          </a:prstGeom>
          <a:noFill/>
        </p:spPr>
        <p:txBody>
          <a:bodyPr wrap="square">
            <a:spAutoFit/>
          </a:bodyPr>
          <a:lstStyle/>
          <a:p>
            <a:pPr algn="l">
              <a:lnSpc>
                <a:spcPct val="115000"/>
              </a:lnSpc>
            </a:pPr>
            <a:r>
              <a:rPr sz="1300" b="0" i="0">
                <a:solidFill>
                  <a:srgbClr val="241F16"/>
                </a:solidFill>
                <a:latin typeface="Calibri"/>
              </a:rPr>
              <a:t>score = sum(score * confidence) / sum(confidence), verdict flips at score &gt;= 0.5. The router short-circuits early: score &gt;= 0.75 at confidence &gt;= 0.5 is malicious, stop. Score &lt;= 0.25 at confidence &gt;= 0.5 is benign, stop.</a:t>
            </a:r>
          </a:p>
        </p:txBody>
      </p:sp>
      <p:sp>
        <p:nvSpPr>
          <p:cNvPr id="7" name="Rectangle 6"/>
          <p:cNvSpPr/>
          <p:nvPr/>
        </p:nvSpPr>
        <p:spPr>
          <a:xfrm>
            <a:off x="502920" y="2103120"/>
            <a:ext cx="237744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file_static</a:t>
            </a:r>
          </a:p>
        </p:txBody>
      </p:sp>
      <p:sp>
        <p:nvSpPr>
          <p:cNvPr id="8" name="Rectangle 7"/>
          <p:cNvSpPr/>
          <p:nvPr/>
        </p:nvSpPr>
        <p:spPr>
          <a:xfrm>
            <a:off x="3154680" y="2103120"/>
            <a:ext cx="237744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file_ml_or_rf</a:t>
            </a:r>
          </a:p>
        </p:txBody>
      </p:sp>
      <p:sp>
        <p:nvSpPr>
          <p:cNvPr id="9" name="Rectangle 8"/>
          <p:cNvSpPr/>
          <p:nvPr/>
        </p:nvSpPr>
        <p:spPr>
          <a:xfrm>
            <a:off x="5806440" y="2103120"/>
            <a:ext cx="2926080" cy="457200"/>
          </a:xfrm>
          <a:prstGeom prst="rect">
            <a:avLst/>
          </a:prstGeom>
          <a:solidFill>
            <a:srgbClr val="EAE4D4"/>
          </a:solidFill>
          <a:ln w="12700">
            <a:solidFill>
              <a:srgbClr val="C7BCA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6B6252"/>
                </a:solidFill>
                <a:latin typeface="Consolas"/>
              </a:rPr>
              <a:t>borderline? 0.45-0.65</a:t>
            </a:r>
          </a:p>
        </p:txBody>
      </p:sp>
      <p:sp>
        <p:nvSpPr>
          <p:cNvPr id="10" name="TextBox 9"/>
          <p:cNvSpPr txBox="1"/>
          <p:nvPr/>
        </p:nvSpPr>
        <p:spPr>
          <a:xfrm>
            <a:off x="502920" y="2834640"/>
            <a:ext cx="2103120" cy="274320"/>
          </a:xfrm>
          <a:prstGeom prst="rect">
            <a:avLst/>
          </a:prstGeom>
          <a:noFill/>
        </p:spPr>
        <p:txBody>
          <a:bodyPr wrap="square">
            <a:spAutoFit/>
          </a:bodyPr>
          <a:lstStyle/>
          <a:p>
            <a:pPr algn="l">
              <a:lnSpc>
                <a:spcPct val="115000"/>
              </a:lnSpc>
            </a:pPr>
            <a:r>
              <a:rPr sz="1000" b="0" i="0">
                <a:solidFill>
                  <a:srgbClr val="6B6252"/>
                </a:solidFill>
                <a:latin typeface="Consolas"/>
              </a:rPr>
              <a:t>NO</a:t>
            </a:r>
          </a:p>
        </p:txBody>
      </p:sp>
      <p:sp>
        <p:nvSpPr>
          <p:cNvPr id="11" name="Rectangle 10"/>
          <p:cNvSpPr/>
          <p:nvPr/>
        </p:nvSpPr>
        <p:spPr>
          <a:xfrm>
            <a:off x="502920" y="3154680"/>
            <a:ext cx="237744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Return fused verdict</a:t>
            </a:r>
          </a:p>
        </p:txBody>
      </p:sp>
      <p:sp>
        <p:nvSpPr>
          <p:cNvPr id="12" name="TextBox 11"/>
          <p:cNvSpPr txBox="1"/>
          <p:nvPr/>
        </p:nvSpPr>
        <p:spPr>
          <a:xfrm>
            <a:off x="3429000" y="2834640"/>
            <a:ext cx="2103120" cy="274320"/>
          </a:xfrm>
          <a:prstGeom prst="rect">
            <a:avLst/>
          </a:prstGeom>
          <a:noFill/>
        </p:spPr>
        <p:txBody>
          <a:bodyPr wrap="square">
            <a:spAutoFit/>
          </a:bodyPr>
          <a:lstStyle/>
          <a:p>
            <a:pPr algn="l">
              <a:lnSpc>
                <a:spcPct val="115000"/>
              </a:lnSpc>
            </a:pPr>
            <a:r>
              <a:rPr sz="1000" b="0" i="0">
                <a:solidFill>
                  <a:srgbClr val="6B6252"/>
                </a:solidFill>
                <a:latin typeface="Consolas"/>
              </a:rPr>
              <a:t>YES</a:t>
            </a:r>
          </a:p>
        </p:txBody>
      </p:sp>
      <p:sp>
        <p:nvSpPr>
          <p:cNvPr id="13" name="Rectangle 12"/>
          <p:cNvSpPr/>
          <p:nvPr/>
        </p:nvSpPr>
        <p:spPr>
          <a:xfrm>
            <a:off x="3429000" y="3154680"/>
            <a:ext cx="237744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Sandbox signal</a:t>
            </a:r>
          </a:p>
        </p:txBody>
      </p:sp>
      <p:sp>
        <p:nvSpPr>
          <p:cNvPr id="14" name="Rectangle 13"/>
          <p:cNvSpPr/>
          <p:nvPr/>
        </p:nvSpPr>
        <p:spPr>
          <a:xfrm>
            <a:off x="6080760" y="3154680"/>
            <a:ext cx="2560320" cy="457200"/>
          </a:xfrm>
          <a:prstGeom prst="rect">
            <a:avLst/>
          </a:prstGeom>
          <a:solidFill>
            <a:srgbClr val="EAE4D4"/>
          </a:solidFill>
          <a:ln w="12700">
            <a:solidFill>
              <a:srgbClr val="4B3F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4B3F7A"/>
                </a:solidFill>
                <a:latin typeface="Consolas"/>
              </a:rPr>
              <a:t>file_qsvc, quantum SVM</a:t>
            </a:r>
          </a:p>
        </p:txBody>
      </p:sp>
      <p:sp>
        <p:nvSpPr>
          <p:cNvPr id="15" name="Rectangle 14"/>
          <p:cNvSpPr/>
          <p:nvPr/>
        </p:nvSpPr>
        <p:spPr>
          <a:xfrm>
            <a:off x="3429000" y="3749040"/>
            <a:ext cx="2377440" cy="457200"/>
          </a:xfrm>
          <a:prstGeom prst="rect">
            <a:avLst/>
          </a:prstGeom>
          <a:solidFill>
            <a:srgbClr val="EAE4D4"/>
          </a:solidFill>
          <a:ln w="12700">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100">
                <a:solidFill>
                  <a:srgbClr val="241F16"/>
                </a:solidFill>
                <a:latin typeface="Consolas"/>
              </a:rPr>
              <a:t>Return fused verdict</a:t>
            </a:r>
          </a:p>
        </p:txBody>
      </p:sp>
      <p:sp>
        <p:nvSpPr>
          <p:cNvPr id="16" name="TextBox 15"/>
          <p:cNvSpPr txBox="1"/>
          <p:nvPr/>
        </p:nvSpPr>
        <p:spPr>
          <a:xfrm>
            <a:off x="502920" y="4297680"/>
            <a:ext cx="11185855" cy="548640"/>
          </a:xfrm>
          <a:prstGeom prst="rect">
            <a:avLst/>
          </a:prstGeom>
          <a:noFill/>
        </p:spPr>
        <p:txBody>
          <a:bodyPr wrap="square">
            <a:spAutoFit/>
          </a:bodyPr>
          <a:lstStyle/>
          <a:p>
            <a:pPr algn="l">
              <a:lnSpc>
                <a:spcPct val="115000"/>
              </a:lnSpc>
            </a:pPr>
            <a:r>
              <a:rPr sz="1200" b="0" i="0">
                <a:solidFill>
                  <a:srgbClr val="6B6252"/>
                </a:solidFill>
                <a:latin typeface="Calibri"/>
              </a:rPr>
              <a:t>The quantum SVM is a tie-breaker, not a gate every file passes through. That's what makes it real-time compatible.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SECURITY DESIGN</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06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Sandbox and quarantine</a:t>
            </a:r>
          </a:p>
        </p:txBody>
      </p:sp>
      <p:sp>
        <p:nvSpPr>
          <p:cNvPr id="6" name="TextBox 5"/>
          <p:cNvSpPr txBox="1"/>
          <p:nvPr/>
        </p:nvSpPr>
        <p:spPr>
          <a:xfrm>
            <a:off x="502920" y="1097280"/>
            <a:ext cx="5364327" cy="320040"/>
          </a:xfrm>
          <a:prstGeom prst="rect">
            <a:avLst/>
          </a:prstGeom>
          <a:noFill/>
        </p:spPr>
        <p:txBody>
          <a:bodyPr wrap="square">
            <a:spAutoFit/>
          </a:bodyPr>
          <a:lstStyle/>
          <a:p>
            <a:pPr algn="l">
              <a:lnSpc>
                <a:spcPct val="115000"/>
              </a:lnSpc>
            </a:pPr>
            <a:r>
              <a:rPr sz="1200" b="1" i="0">
                <a:solidFill>
                  <a:srgbClr val="6B6252"/>
                </a:solidFill>
                <a:latin typeface="Calibri"/>
              </a:rPr>
              <a:t>SANDBOX</a:t>
            </a:r>
          </a:p>
        </p:txBody>
      </p:sp>
      <p:sp>
        <p:nvSpPr>
          <p:cNvPr id="7" name="TextBox 6"/>
          <p:cNvSpPr txBox="1"/>
          <p:nvPr/>
        </p:nvSpPr>
        <p:spPr>
          <a:xfrm>
            <a:off x="502920" y="1508760"/>
            <a:ext cx="5364327" cy="2194560"/>
          </a:xfrm>
          <a:prstGeom prst="rect">
            <a:avLst/>
          </a:prstGeom>
          <a:noFill/>
        </p:spPr>
        <p:txBody>
          <a:bodyPr wrap="square">
            <a:spAutoFit/>
          </a:bodyPr>
          <a:lstStyle/>
          <a:p>
            <a:pPr algn="l">
              <a:lnSpc>
                <a:spcPct val="115000"/>
              </a:lnSpc>
            </a:pPr>
            <a:r>
              <a:rPr sz="1300" b="0" i="0">
                <a:solidFill>
                  <a:srgbClr val="241F16"/>
                </a:solidFill>
                <a:latin typeface="Calibri"/>
              </a:rPr>
              <a:t>bwrap with --unshare-all --die-with-parent --new-session --clearenv, read-only binds, private tmpfs. A real functional probe, not a presence check, falls back to rlimit-only isolation if bwrap can't actually sandbox. Never executes the sample by default.</a:t>
            </a:r>
          </a:p>
        </p:txBody>
      </p:sp>
      <p:sp>
        <p:nvSpPr>
          <p:cNvPr id="8" name="TextBox 7"/>
          <p:cNvSpPr txBox="1"/>
          <p:nvPr/>
        </p:nvSpPr>
        <p:spPr>
          <a:xfrm>
            <a:off x="6324447" y="1097280"/>
            <a:ext cx="5364327" cy="320040"/>
          </a:xfrm>
          <a:prstGeom prst="rect">
            <a:avLst/>
          </a:prstGeom>
          <a:noFill/>
        </p:spPr>
        <p:txBody>
          <a:bodyPr wrap="square">
            <a:spAutoFit/>
          </a:bodyPr>
          <a:lstStyle/>
          <a:p>
            <a:pPr algn="l">
              <a:lnSpc>
                <a:spcPct val="115000"/>
              </a:lnSpc>
            </a:pPr>
            <a:r>
              <a:rPr sz="1200" b="1" i="0">
                <a:solidFill>
                  <a:srgbClr val="6B6252"/>
                </a:solidFill>
                <a:latin typeface="Calibri"/>
              </a:rPr>
              <a:t>QUARANTINE</a:t>
            </a:r>
          </a:p>
        </p:txBody>
      </p:sp>
      <p:sp>
        <p:nvSpPr>
          <p:cNvPr id="9" name="TextBox 8"/>
          <p:cNvSpPr txBox="1"/>
          <p:nvPr/>
        </p:nvSpPr>
        <p:spPr>
          <a:xfrm>
            <a:off x="6324447" y="1508760"/>
            <a:ext cx="5364327" cy="2194560"/>
          </a:xfrm>
          <a:prstGeom prst="rect">
            <a:avLst/>
          </a:prstGeom>
          <a:noFill/>
        </p:spPr>
        <p:txBody>
          <a:bodyPr wrap="square">
            <a:spAutoFit/>
          </a:bodyPr>
          <a:lstStyle/>
          <a:p>
            <a:pPr algn="l">
              <a:lnSpc>
                <a:spcPct val="115000"/>
              </a:lnSpc>
            </a:pPr>
            <a:r>
              <a:rPr sz="1300" b="0" i="0">
                <a:solidFill>
                  <a:srgbClr val="241F16"/>
                </a:solidFill>
                <a:latin typeface="Calibri"/>
              </a:rPr>
              <a:t>Fernet encryption, key at chmod 0600, HMAC-SHA256 integrity check on the on-disk database. Write-verify-then-delete-original ordering: quarantining can never silently lose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DATASETS</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07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Training datasets</a:t>
            </a:r>
          </a:p>
        </p:txBody>
      </p:sp>
      <p:sp>
        <p:nvSpPr>
          <p:cNvPr id="6" name="TextBox 5"/>
          <p:cNvSpPr txBox="1"/>
          <p:nvPr/>
        </p:nvSpPr>
        <p:spPr>
          <a:xfrm>
            <a:off x="502920" y="1051560"/>
            <a:ext cx="11185855" cy="1097280"/>
          </a:xfrm>
          <a:prstGeom prst="rect">
            <a:avLst/>
          </a:prstGeom>
          <a:noFill/>
        </p:spPr>
        <p:txBody>
          <a:bodyPr wrap="square">
            <a:spAutoFit/>
          </a:bodyPr>
          <a:lstStyle/>
          <a:p>
            <a:pPr algn="l">
              <a:lnSpc>
                <a:spcPct val="115000"/>
              </a:lnSpc>
            </a:pPr>
            <a:r>
              <a:rPr sz="1300" b="0" i="0">
                <a:solidFill>
                  <a:srgbClr val="241F16"/>
                </a:solidFill>
                <a:latin typeface="Calibri"/>
              </a:rPr>
              <a:t>Early planning scoped a wide field of options: CIC-IDS2017/2018, UNSW-NB15, MalwareBazaar, theZoo, alongside LogHub and EMBER. What's actually wired into training today is the narrower, concrete set below, both real and both already producing the measured numbers in this pitch.</a:t>
            </a:r>
          </a:p>
        </p:txBody>
      </p:sp>
      <p:sp>
        <p:nvSpPr>
          <p:cNvPr id="7" name="TextBox 6"/>
          <p:cNvSpPr txBox="1"/>
          <p:nvPr/>
        </p:nvSpPr>
        <p:spPr>
          <a:xfrm>
            <a:off x="502920" y="2377440"/>
            <a:ext cx="5364327" cy="457200"/>
          </a:xfrm>
          <a:prstGeom prst="rect">
            <a:avLst/>
          </a:prstGeom>
          <a:noFill/>
        </p:spPr>
        <p:txBody>
          <a:bodyPr wrap="square">
            <a:spAutoFit/>
          </a:bodyPr>
          <a:lstStyle/>
          <a:p>
            <a:pPr algn="l">
              <a:lnSpc>
                <a:spcPct val="115000"/>
              </a:lnSpc>
            </a:pPr>
            <a:r>
              <a:rPr sz="1800" b="0" i="0">
                <a:solidFill>
                  <a:srgbClr val="B5502A"/>
                </a:solidFill>
                <a:latin typeface="Consolas"/>
              </a:rPr>
              <a:t>LogHub HDFS_v1</a:t>
            </a:r>
          </a:p>
        </p:txBody>
      </p:sp>
      <p:sp>
        <p:nvSpPr>
          <p:cNvPr id="8" name="TextBox 7"/>
          <p:cNvSpPr txBox="1"/>
          <p:nvPr/>
        </p:nvSpPr>
        <p:spPr>
          <a:xfrm>
            <a:off x="502920" y="2880360"/>
            <a:ext cx="5364327" cy="457200"/>
          </a:xfrm>
          <a:prstGeom prst="rect">
            <a:avLst/>
          </a:prstGeom>
          <a:noFill/>
        </p:spPr>
        <p:txBody>
          <a:bodyPr wrap="square">
            <a:spAutoFit/>
          </a:bodyPr>
          <a:lstStyle/>
          <a:p>
            <a:pPr algn="l">
              <a:lnSpc>
                <a:spcPct val="115000"/>
              </a:lnSpc>
            </a:pPr>
            <a:r>
              <a:rPr sz="1100" b="0" i="0">
                <a:solidFill>
                  <a:srgbClr val="6B6252"/>
                </a:solidFill>
                <a:latin typeface="Calibri"/>
              </a:rPr>
              <a:t>real distributed-system logs, feeds log_sgd</a:t>
            </a:r>
          </a:p>
        </p:txBody>
      </p:sp>
      <p:sp>
        <p:nvSpPr>
          <p:cNvPr id="9" name="TextBox 8"/>
          <p:cNvSpPr txBox="1"/>
          <p:nvPr/>
        </p:nvSpPr>
        <p:spPr>
          <a:xfrm>
            <a:off x="6324447" y="2377440"/>
            <a:ext cx="5364327" cy="457200"/>
          </a:xfrm>
          <a:prstGeom prst="rect">
            <a:avLst/>
          </a:prstGeom>
          <a:noFill/>
        </p:spPr>
        <p:txBody>
          <a:bodyPr wrap="square">
            <a:spAutoFit/>
          </a:bodyPr>
          <a:lstStyle/>
          <a:p>
            <a:pPr algn="l">
              <a:lnSpc>
                <a:spcPct val="115000"/>
              </a:lnSpc>
            </a:pPr>
            <a:r>
              <a:rPr sz="1800" b="0" i="0">
                <a:solidFill>
                  <a:srgbClr val="B5502A"/>
                </a:solidFill>
                <a:latin typeface="Consolas"/>
              </a:rPr>
              <a:t>EMBER2018</a:t>
            </a:r>
          </a:p>
        </p:txBody>
      </p:sp>
      <p:sp>
        <p:nvSpPr>
          <p:cNvPr id="10" name="TextBox 9"/>
          <p:cNvSpPr txBox="1"/>
          <p:nvPr/>
        </p:nvSpPr>
        <p:spPr>
          <a:xfrm>
            <a:off x="6324447" y="2880360"/>
            <a:ext cx="5364327" cy="457200"/>
          </a:xfrm>
          <a:prstGeom prst="rect">
            <a:avLst/>
          </a:prstGeom>
          <a:noFill/>
        </p:spPr>
        <p:txBody>
          <a:bodyPr wrap="square">
            <a:spAutoFit/>
          </a:bodyPr>
          <a:lstStyle/>
          <a:p>
            <a:pPr algn="l">
              <a:lnSpc>
                <a:spcPct val="115000"/>
              </a:lnSpc>
            </a:pPr>
            <a:r>
              <a:rPr sz="1100" b="0" i="0">
                <a:solidFill>
                  <a:srgbClr val="6B6252"/>
                </a:solidFill>
                <a:latin typeface="Calibri"/>
              </a:rPr>
              <a:t>real malware PE features, feeds file_ml_or_rf + file_qsvc</a:t>
            </a:r>
          </a:p>
        </p:txBody>
      </p:sp>
      <p:sp>
        <p:nvSpPr>
          <p:cNvPr id="11" name="TextBox 10"/>
          <p:cNvSpPr txBox="1"/>
          <p:nvPr/>
        </p:nvSpPr>
        <p:spPr>
          <a:xfrm>
            <a:off x="502920" y="3749039"/>
            <a:ext cx="11185855" cy="640080"/>
          </a:xfrm>
          <a:prstGeom prst="rect">
            <a:avLst/>
          </a:prstGeom>
          <a:noFill/>
        </p:spPr>
        <p:txBody>
          <a:bodyPr wrap="square">
            <a:spAutoFit/>
          </a:bodyPr>
          <a:lstStyle/>
          <a:p>
            <a:pPr algn="l">
              <a:lnSpc>
                <a:spcPct val="115000"/>
              </a:lnSpc>
            </a:pPr>
            <a:r>
              <a:rPr sz="1200" b="0" i="1">
                <a:solidFill>
                  <a:srgbClr val="6B6252"/>
                </a:solidFill>
                <a:latin typeface="Calibri"/>
              </a:rPr>
              <a:t>The wider list stays the roadmap for broadening coverage past logs and PE files. It's not a claim about what's trained now.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DESKTOP CLIENT</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08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Desktop client features</a:t>
            </a:r>
          </a:p>
        </p:txBody>
      </p:sp>
      <p:sp>
        <p:nvSpPr>
          <p:cNvPr id="6" name="TextBox 5"/>
          <p:cNvSpPr txBox="1"/>
          <p:nvPr/>
        </p:nvSpPr>
        <p:spPr>
          <a:xfrm>
            <a:off x="502920" y="1051560"/>
            <a:ext cx="1554480" cy="457200"/>
          </a:xfrm>
          <a:prstGeom prst="rect">
            <a:avLst/>
          </a:prstGeom>
          <a:noFill/>
        </p:spPr>
        <p:txBody>
          <a:bodyPr wrap="square">
            <a:spAutoFit/>
          </a:bodyPr>
          <a:lstStyle/>
          <a:p>
            <a:pPr algn="l">
              <a:lnSpc>
                <a:spcPct val="115000"/>
              </a:lnSpc>
            </a:pPr>
            <a:r>
              <a:rPr sz="1100" b="0" i="0">
                <a:solidFill>
                  <a:srgbClr val="6B6252"/>
                </a:solidFill>
                <a:latin typeface="Consolas"/>
              </a:rPr>
              <a:t>Dashboard</a:t>
            </a:r>
          </a:p>
        </p:txBody>
      </p:sp>
      <p:sp>
        <p:nvSpPr>
          <p:cNvPr id="7" name="TextBox 6"/>
          <p:cNvSpPr txBox="1"/>
          <p:nvPr/>
        </p:nvSpPr>
        <p:spPr>
          <a:xfrm>
            <a:off x="2148840" y="1051560"/>
            <a:ext cx="9539935" cy="457200"/>
          </a:xfrm>
          <a:prstGeom prst="rect">
            <a:avLst/>
          </a:prstGeom>
          <a:noFill/>
        </p:spPr>
        <p:txBody>
          <a:bodyPr wrap="square">
            <a:spAutoFit/>
          </a:bodyPr>
          <a:lstStyle/>
          <a:p>
            <a:pPr algn="l">
              <a:lnSpc>
                <a:spcPct val="115000"/>
              </a:lnSpc>
            </a:pPr>
            <a:r>
              <a:rPr sz="1300" b="0" i="0">
                <a:solidFill>
                  <a:srgbClr val="241F16"/>
                </a:solidFill>
                <a:latin typeface="Calibri"/>
              </a:rPr>
              <a:t>Real cumulative counters: files scanned, lines checked, monitoring uptime. Not placeholders.</a:t>
            </a:r>
          </a:p>
        </p:txBody>
      </p:sp>
      <p:sp>
        <p:nvSpPr>
          <p:cNvPr id="8" name="Rectangle 7"/>
          <p:cNvSpPr/>
          <p:nvPr/>
        </p:nvSpPr>
        <p:spPr>
          <a:xfrm>
            <a:off x="502920" y="155448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709928"/>
            <a:ext cx="1554480" cy="457200"/>
          </a:xfrm>
          <a:prstGeom prst="rect">
            <a:avLst/>
          </a:prstGeom>
          <a:noFill/>
        </p:spPr>
        <p:txBody>
          <a:bodyPr wrap="square">
            <a:spAutoFit/>
          </a:bodyPr>
          <a:lstStyle/>
          <a:p>
            <a:pPr algn="l">
              <a:lnSpc>
                <a:spcPct val="115000"/>
              </a:lnSpc>
            </a:pPr>
            <a:r>
              <a:rPr sz="1100" b="0" i="0">
                <a:solidFill>
                  <a:srgbClr val="6B6252"/>
                </a:solidFill>
                <a:latin typeface="Consolas"/>
              </a:rPr>
              <a:t>Scan</a:t>
            </a:r>
          </a:p>
        </p:txBody>
      </p:sp>
      <p:sp>
        <p:nvSpPr>
          <p:cNvPr id="10" name="TextBox 9"/>
          <p:cNvSpPr txBox="1"/>
          <p:nvPr/>
        </p:nvSpPr>
        <p:spPr>
          <a:xfrm>
            <a:off x="2148840" y="1709928"/>
            <a:ext cx="9539935" cy="457200"/>
          </a:xfrm>
          <a:prstGeom prst="rect">
            <a:avLst/>
          </a:prstGeom>
          <a:noFill/>
        </p:spPr>
        <p:txBody>
          <a:bodyPr wrap="square">
            <a:spAutoFit/>
          </a:bodyPr>
          <a:lstStyle/>
          <a:p>
            <a:pPr algn="l">
              <a:lnSpc>
                <a:spcPct val="115000"/>
              </a:lnSpc>
            </a:pPr>
            <a:r>
              <a:rPr sz="1300" b="0" i="0">
                <a:solidFill>
                  <a:srgbClr val="241F16"/>
                </a:solidFill>
                <a:latin typeface="Calibri"/>
              </a:rPr>
              <a:t>On-demand file scan, wired to the live orchestrator.</a:t>
            </a:r>
          </a:p>
        </p:txBody>
      </p:sp>
      <p:sp>
        <p:nvSpPr>
          <p:cNvPr id="11" name="Rectangle 10"/>
          <p:cNvSpPr/>
          <p:nvPr/>
        </p:nvSpPr>
        <p:spPr>
          <a:xfrm>
            <a:off x="502920" y="2212848"/>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368296"/>
            <a:ext cx="1554480" cy="457200"/>
          </a:xfrm>
          <a:prstGeom prst="rect">
            <a:avLst/>
          </a:prstGeom>
          <a:noFill/>
        </p:spPr>
        <p:txBody>
          <a:bodyPr wrap="square">
            <a:spAutoFit/>
          </a:bodyPr>
          <a:lstStyle/>
          <a:p>
            <a:pPr algn="l">
              <a:lnSpc>
                <a:spcPct val="115000"/>
              </a:lnSpc>
            </a:pPr>
            <a:r>
              <a:rPr sz="1100" b="0" i="0">
                <a:solidFill>
                  <a:srgbClr val="6B6252"/>
                </a:solidFill>
                <a:latin typeface="Consolas"/>
              </a:rPr>
              <a:t>Log analysis</a:t>
            </a:r>
          </a:p>
        </p:txBody>
      </p:sp>
      <p:sp>
        <p:nvSpPr>
          <p:cNvPr id="13" name="TextBox 12"/>
          <p:cNvSpPr txBox="1"/>
          <p:nvPr/>
        </p:nvSpPr>
        <p:spPr>
          <a:xfrm>
            <a:off x="2148840" y="2368296"/>
            <a:ext cx="9539935" cy="457200"/>
          </a:xfrm>
          <a:prstGeom prst="rect">
            <a:avLst/>
          </a:prstGeom>
          <a:noFill/>
        </p:spPr>
        <p:txBody>
          <a:bodyPr wrap="square">
            <a:spAutoFit/>
          </a:bodyPr>
          <a:lstStyle/>
          <a:p>
            <a:pPr algn="l">
              <a:lnSpc>
                <a:spcPct val="115000"/>
              </a:lnSpc>
            </a:pPr>
            <a:r>
              <a:rPr sz="1300" b="0" i="0">
                <a:solidFill>
                  <a:srgbClr val="241F16"/>
                </a:solidFill>
                <a:latin typeface="Calibri"/>
              </a:rPr>
              <a:t>Background tailing and manual line-check, raw tail and flagged-lines table.</a:t>
            </a:r>
          </a:p>
        </p:txBody>
      </p:sp>
      <p:sp>
        <p:nvSpPr>
          <p:cNvPr id="14" name="Rectangle 13"/>
          <p:cNvSpPr/>
          <p:nvPr/>
        </p:nvSpPr>
        <p:spPr>
          <a:xfrm>
            <a:off x="502920" y="2871216"/>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026664"/>
            <a:ext cx="1554480" cy="457200"/>
          </a:xfrm>
          <a:prstGeom prst="rect">
            <a:avLst/>
          </a:prstGeom>
          <a:noFill/>
        </p:spPr>
        <p:txBody>
          <a:bodyPr wrap="square">
            <a:spAutoFit/>
          </a:bodyPr>
          <a:lstStyle/>
          <a:p>
            <a:pPr algn="l">
              <a:lnSpc>
                <a:spcPct val="115000"/>
              </a:lnSpc>
            </a:pPr>
            <a:r>
              <a:rPr sz="1100" b="0" i="0">
                <a:solidFill>
                  <a:srgbClr val="6B6252"/>
                </a:solidFill>
                <a:latin typeface="Consolas"/>
              </a:rPr>
              <a:t>Quarantine</a:t>
            </a:r>
          </a:p>
        </p:txBody>
      </p:sp>
      <p:sp>
        <p:nvSpPr>
          <p:cNvPr id="16" name="TextBox 15"/>
          <p:cNvSpPr txBox="1"/>
          <p:nvPr/>
        </p:nvSpPr>
        <p:spPr>
          <a:xfrm>
            <a:off x="2148840" y="3026664"/>
            <a:ext cx="9539935" cy="457200"/>
          </a:xfrm>
          <a:prstGeom prst="rect">
            <a:avLst/>
          </a:prstGeom>
          <a:noFill/>
        </p:spPr>
        <p:txBody>
          <a:bodyPr wrap="square">
            <a:spAutoFit/>
          </a:bodyPr>
          <a:lstStyle/>
          <a:p>
            <a:pPr algn="l">
              <a:lnSpc>
                <a:spcPct val="115000"/>
              </a:lnSpc>
            </a:pPr>
            <a:r>
              <a:rPr sz="1300" b="0" i="0">
                <a:solidFill>
                  <a:srgbClr val="241F16"/>
                </a:solidFill>
                <a:latin typeface="Calibri"/>
              </a:rPr>
              <a:t>Encrypted store with list, restore, and delete.</a:t>
            </a:r>
          </a:p>
        </p:txBody>
      </p:sp>
      <p:sp>
        <p:nvSpPr>
          <p:cNvPr id="17" name="Rectangle 16"/>
          <p:cNvSpPr/>
          <p:nvPr/>
        </p:nvSpPr>
        <p:spPr>
          <a:xfrm>
            <a:off x="502920" y="3529584"/>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3685032"/>
            <a:ext cx="1554480" cy="457200"/>
          </a:xfrm>
          <a:prstGeom prst="rect">
            <a:avLst/>
          </a:prstGeom>
          <a:noFill/>
        </p:spPr>
        <p:txBody>
          <a:bodyPr wrap="square">
            <a:spAutoFit/>
          </a:bodyPr>
          <a:lstStyle/>
          <a:p>
            <a:pPr algn="l">
              <a:lnSpc>
                <a:spcPct val="115000"/>
              </a:lnSpc>
            </a:pPr>
            <a:r>
              <a:rPr sz="1100" b="0" i="0">
                <a:solidFill>
                  <a:srgbClr val="6B6252"/>
                </a:solidFill>
                <a:latin typeface="Consolas"/>
              </a:rPr>
              <a:t>Adjustable UI</a:t>
            </a:r>
          </a:p>
        </p:txBody>
      </p:sp>
      <p:sp>
        <p:nvSpPr>
          <p:cNvPr id="19" name="TextBox 18"/>
          <p:cNvSpPr txBox="1"/>
          <p:nvPr/>
        </p:nvSpPr>
        <p:spPr>
          <a:xfrm>
            <a:off x="2148840" y="3685032"/>
            <a:ext cx="9539935" cy="457200"/>
          </a:xfrm>
          <a:prstGeom prst="rect">
            <a:avLst/>
          </a:prstGeom>
          <a:noFill/>
        </p:spPr>
        <p:txBody>
          <a:bodyPr wrap="square">
            <a:spAutoFit/>
          </a:bodyPr>
          <a:lstStyle/>
          <a:p>
            <a:pPr algn="l">
              <a:lnSpc>
                <a:spcPct val="115000"/>
              </a:lnSpc>
            </a:pPr>
            <a:r>
              <a:rPr sz="1300" b="0" i="0">
                <a:solidFill>
                  <a:srgbClr val="241F16"/>
                </a:solidFill>
                <a:latin typeface="Calibri"/>
              </a:rPr>
              <a:t>Resizable columns and sidebar, both persisted across restarts.</a:t>
            </a:r>
          </a:p>
        </p:txBody>
      </p:sp>
      <p:sp>
        <p:nvSpPr>
          <p:cNvPr id="20" name="Rectangle 19"/>
          <p:cNvSpPr/>
          <p:nvPr/>
        </p:nvSpPr>
        <p:spPr>
          <a:xfrm>
            <a:off x="502920" y="4187952"/>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343400"/>
            <a:ext cx="1554480" cy="457200"/>
          </a:xfrm>
          <a:prstGeom prst="rect">
            <a:avLst/>
          </a:prstGeom>
          <a:noFill/>
        </p:spPr>
        <p:txBody>
          <a:bodyPr wrap="square">
            <a:spAutoFit/>
          </a:bodyPr>
          <a:lstStyle/>
          <a:p>
            <a:pPr algn="l">
              <a:lnSpc>
                <a:spcPct val="115000"/>
              </a:lnSpc>
            </a:pPr>
            <a:r>
              <a:rPr sz="1100" b="0" i="0">
                <a:solidFill>
                  <a:srgbClr val="6B6252"/>
                </a:solidFill>
                <a:latin typeface="Consolas"/>
              </a:rPr>
              <a:t>Theme</a:t>
            </a:r>
          </a:p>
        </p:txBody>
      </p:sp>
      <p:sp>
        <p:nvSpPr>
          <p:cNvPr id="22" name="TextBox 21"/>
          <p:cNvSpPr txBox="1"/>
          <p:nvPr/>
        </p:nvSpPr>
        <p:spPr>
          <a:xfrm>
            <a:off x="2148840" y="4343400"/>
            <a:ext cx="9539935" cy="457200"/>
          </a:xfrm>
          <a:prstGeom prst="rect">
            <a:avLst/>
          </a:prstGeom>
          <a:noFill/>
        </p:spPr>
        <p:txBody>
          <a:bodyPr wrap="square">
            <a:spAutoFit/>
          </a:bodyPr>
          <a:lstStyle/>
          <a:p>
            <a:pPr algn="l">
              <a:lnSpc>
                <a:spcPct val="115000"/>
              </a:lnSpc>
            </a:pPr>
            <a:r>
              <a:rPr sz="1300" b="0" i="0">
                <a:solidFill>
                  <a:srgbClr val="241F16"/>
                </a:solidFill>
                <a:latin typeface="Calibri"/>
              </a:rPr>
              <a:t>Live light/dark toggle, no restart required.</a:t>
            </a:r>
          </a:p>
        </p:txBody>
      </p:sp>
      <p:sp>
        <p:nvSpPr>
          <p:cNvPr id="23" name="Rectangle 22"/>
          <p:cNvSpPr/>
          <p:nvPr/>
        </p:nvSpPr>
        <p:spPr>
          <a:xfrm>
            <a:off x="502920" y="484632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ENGINEERING RIGOR</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09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Testing and CI pipeline</a:t>
            </a:r>
          </a:p>
        </p:txBody>
      </p:sp>
      <p:sp>
        <p:nvSpPr>
          <p:cNvPr id="6" name="TextBox 5"/>
          <p:cNvSpPr txBox="1"/>
          <p:nvPr/>
        </p:nvSpPr>
        <p:spPr>
          <a:xfrm>
            <a:off x="502920" y="1097280"/>
            <a:ext cx="2194560" cy="502920"/>
          </a:xfrm>
          <a:prstGeom prst="rect">
            <a:avLst/>
          </a:prstGeom>
          <a:noFill/>
        </p:spPr>
        <p:txBody>
          <a:bodyPr wrap="square">
            <a:spAutoFit/>
          </a:bodyPr>
          <a:lstStyle/>
          <a:p>
            <a:pPr algn="l">
              <a:lnSpc>
                <a:spcPct val="115000"/>
              </a:lnSpc>
            </a:pPr>
            <a:r>
              <a:rPr sz="2600" b="0" i="0">
                <a:solidFill>
                  <a:srgbClr val="B5502A"/>
                </a:solidFill>
                <a:latin typeface="Consolas"/>
              </a:rPr>
              <a:t>216</a:t>
            </a:r>
          </a:p>
        </p:txBody>
      </p:sp>
      <p:sp>
        <p:nvSpPr>
          <p:cNvPr id="7" name="TextBox 6"/>
          <p:cNvSpPr txBox="1"/>
          <p:nvPr/>
        </p:nvSpPr>
        <p:spPr>
          <a:xfrm>
            <a:off x="502920" y="1645920"/>
            <a:ext cx="2194560" cy="365760"/>
          </a:xfrm>
          <a:prstGeom prst="rect">
            <a:avLst/>
          </a:prstGeom>
          <a:noFill/>
        </p:spPr>
        <p:txBody>
          <a:bodyPr wrap="square">
            <a:spAutoFit/>
          </a:bodyPr>
          <a:lstStyle/>
          <a:p>
            <a:pPr algn="l">
              <a:lnSpc>
                <a:spcPct val="115000"/>
              </a:lnSpc>
            </a:pPr>
            <a:r>
              <a:rPr sz="1100" b="0" i="0">
                <a:solidFill>
                  <a:srgbClr val="6B6252"/>
                </a:solidFill>
                <a:latin typeface="Calibri"/>
              </a:rPr>
              <a:t>tests passing</a:t>
            </a:r>
          </a:p>
        </p:txBody>
      </p:sp>
      <p:sp>
        <p:nvSpPr>
          <p:cNvPr id="8" name="TextBox 7"/>
          <p:cNvSpPr txBox="1"/>
          <p:nvPr/>
        </p:nvSpPr>
        <p:spPr>
          <a:xfrm>
            <a:off x="2971800" y="1097280"/>
            <a:ext cx="2194560" cy="502920"/>
          </a:xfrm>
          <a:prstGeom prst="rect">
            <a:avLst/>
          </a:prstGeom>
          <a:noFill/>
        </p:spPr>
        <p:txBody>
          <a:bodyPr wrap="square">
            <a:spAutoFit/>
          </a:bodyPr>
          <a:lstStyle/>
          <a:p>
            <a:pPr algn="l">
              <a:lnSpc>
                <a:spcPct val="115000"/>
              </a:lnSpc>
            </a:pPr>
            <a:r>
              <a:rPr sz="2600" b="0" i="0">
                <a:solidFill>
                  <a:srgbClr val="B5502A"/>
                </a:solidFill>
                <a:latin typeface="Consolas"/>
              </a:rPr>
              <a:t>~80%</a:t>
            </a:r>
          </a:p>
        </p:txBody>
      </p:sp>
      <p:sp>
        <p:nvSpPr>
          <p:cNvPr id="9" name="TextBox 8"/>
          <p:cNvSpPr txBox="1"/>
          <p:nvPr/>
        </p:nvSpPr>
        <p:spPr>
          <a:xfrm>
            <a:off x="2971800" y="1645920"/>
            <a:ext cx="2194560" cy="365760"/>
          </a:xfrm>
          <a:prstGeom prst="rect">
            <a:avLst/>
          </a:prstGeom>
          <a:noFill/>
        </p:spPr>
        <p:txBody>
          <a:bodyPr wrap="square">
            <a:spAutoFit/>
          </a:bodyPr>
          <a:lstStyle/>
          <a:p>
            <a:pPr algn="l">
              <a:lnSpc>
                <a:spcPct val="115000"/>
              </a:lnSpc>
            </a:pPr>
            <a:r>
              <a:rPr sz="1100" b="0" i="0">
                <a:solidFill>
                  <a:srgbClr val="6B6252"/>
                </a:solidFill>
                <a:latin typeface="Calibri"/>
              </a:rPr>
              <a:t>real coverage</a:t>
            </a:r>
          </a:p>
        </p:txBody>
      </p:sp>
      <p:sp>
        <p:nvSpPr>
          <p:cNvPr id="10" name="TextBox 9"/>
          <p:cNvSpPr txBox="1"/>
          <p:nvPr/>
        </p:nvSpPr>
        <p:spPr>
          <a:xfrm>
            <a:off x="5440680" y="1097280"/>
            <a:ext cx="2194560" cy="502920"/>
          </a:xfrm>
          <a:prstGeom prst="rect">
            <a:avLst/>
          </a:prstGeom>
          <a:noFill/>
        </p:spPr>
        <p:txBody>
          <a:bodyPr wrap="square">
            <a:spAutoFit/>
          </a:bodyPr>
          <a:lstStyle/>
          <a:p>
            <a:pPr algn="l">
              <a:lnSpc>
                <a:spcPct val="115000"/>
              </a:lnSpc>
            </a:pPr>
            <a:r>
              <a:rPr sz="2600" b="0" i="0">
                <a:solidFill>
                  <a:srgbClr val="B5502A"/>
                </a:solidFill>
                <a:latin typeface="Consolas"/>
              </a:rPr>
              <a:t>6</a:t>
            </a:r>
          </a:p>
        </p:txBody>
      </p:sp>
      <p:sp>
        <p:nvSpPr>
          <p:cNvPr id="11" name="TextBox 10"/>
          <p:cNvSpPr txBox="1"/>
          <p:nvPr/>
        </p:nvSpPr>
        <p:spPr>
          <a:xfrm>
            <a:off x="5440680" y="1645920"/>
            <a:ext cx="2194560" cy="365760"/>
          </a:xfrm>
          <a:prstGeom prst="rect">
            <a:avLst/>
          </a:prstGeom>
          <a:noFill/>
        </p:spPr>
        <p:txBody>
          <a:bodyPr wrap="square">
            <a:spAutoFit/>
          </a:bodyPr>
          <a:lstStyle/>
          <a:p>
            <a:pPr algn="l">
              <a:lnSpc>
                <a:spcPct val="115000"/>
              </a:lnSpc>
            </a:pPr>
            <a:r>
              <a:rPr sz="1100" b="0" i="0">
                <a:solidFill>
                  <a:srgbClr val="6B6252"/>
                </a:solidFill>
                <a:latin typeface="Calibri"/>
              </a:rPr>
              <a:t>CI gates</a:t>
            </a:r>
          </a:p>
        </p:txBody>
      </p:sp>
      <p:sp>
        <p:nvSpPr>
          <p:cNvPr id="12" name="TextBox 11"/>
          <p:cNvSpPr txBox="1"/>
          <p:nvPr/>
        </p:nvSpPr>
        <p:spPr>
          <a:xfrm>
            <a:off x="502920" y="2377440"/>
            <a:ext cx="11185855" cy="914400"/>
          </a:xfrm>
          <a:prstGeom prst="rect">
            <a:avLst/>
          </a:prstGeom>
          <a:noFill/>
        </p:spPr>
        <p:txBody>
          <a:bodyPr wrap="square">
            <a:spAutoFit/>
          </a:bodyPr>
          <a:lstStyle/>
          <a:p>
            <a:pPr algn="l">
              <a:lnSpc>
                <a:spcPct val="115000"/>
              </a:lnSpc>
            </a:pPr>
            <a:r>
              <a:rPr sz="1300" b="0" i="0">
                <a:solidFill>
                  <a:srgbClr val="241F16"/>
                </a:solidFill>
                <a:latin typeface="Calibri"/>
              </a:rPr>
              <a:t>Every push runs a style checker, ruff, mypy, bandit, pip-audit, and pytest with a coverage floor, plus a separate gitleaks secret-scan and a Docker build with a health-check job.</a:t>
            </a:r>
          </a:p>
        </p:txBody>
      </p:sp>
      <p:sp>
        <p:nvSpPr>
          <p:cNvPr id="13" name="TextBox 12"/>
          <p:cNvSpPr txBox="1"/>
          <p:nvPr/>
        </p:nvSpPr>
        <p:spPr>
          <a:xfrm>
            <a:off x="502920" y="3383280"/>
            <a:ext cx="11185855" cy="731520"/>
          </a:xfrm>
          <a:prstGeom prst="rect">
            <a:avLst/>
          </a:prstGeom>
          <a:noFill/>
        </p:spPr>
        <p:txBody>
          <a:bodyPr wrap="square">
            <a:spAutoFit/>
          </a:bodyPr>
          <a:lstStyle/>
          <a:p>
            <a:pPr algn="l">
              <a:lnSpc>
                <a:spcPct val="115000"/>
              </a:lnSpc>
            </a:pPr>
            <a:r>
              <a:rPr sz="1200" b="0" i="0">
                <a:solidFill>
                  <a:srgbClr val="6B6252"/>
                </a:solidFill>
                <a:latin typeface="Calibri"/>
              </a:rPr>
              <a:t>For a tool whose entire job is telling you what to trust, its own supply chain and code quality have to hold up to the same scrutiny.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CHALLENGES</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10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Challenges faced during development</a:t>
            </a:r>
          </a:p>
        </p:txBody>
      </p:sp>
      <p:sp>
        <p:nvSpPr>
          <p:cNvPr id="6" name="TextBox 5"/>
          <p:cNvSpPr txBox="1"/>
          <p:nvPr/>
        </p:nvSpPr>
        <p:spPr>
          <a:xfrm>
            <a:off x="502920" y="1051560"/>
            <a:ext cx="1737360" cy="457200"/>
          </a:xfrm>
          <a:prstGeom prst="rect">
            <a:avLst/>
          </a:prstGeom>
          <a:noFill/>
        </p:spPr>
        <p:txBody>
          <a:bodyPr wrap="square">
            <a:spAutoFit/>
          </a:bodyPr>
          <a:lstStyle/>
          <a:p>
            <a:pPr algn="l">
              <a:lnSpc>
                <a:spcPct val="115000"/>
              </a:lnSpc>
            </a:pPr>
            <a:r>
              <a:rPr sz="1100" b="0" i="0">
                <a:solidFill>
                  <a:srgbClr val="6B6252"/>
                </a:solidFill>
                <a:latin typeface="Consolas"/>
              </a:rPr>
              <a:t>Training safety</a:t>
            </a:r>
          </a:p>
        </p:txBody>
      </p:sp>
      <p:sp>
        <p:nvSpPr>
          <p:cNvPr id="7" name="TextBox 6"/>
          <p:cNvSpPr txBox="1"/>
          <p:nvPr/>
        </p:nvSpPr>
        <p:spPr>
          <a:xfrm>
            <a:off x="2331720" y="1051560"/>
            <a:ext cx="9357055" cy="914400"/>
          </a:xfrm>
          <a:prstGeom prst="rect">
            <a:avLst/>
          </a:prstGeom>
          <a:noFill/>
        </p:spPr>
        <p:txBody>
          <a:bodyPr wrap="square">
            <a:spAutoFit/>
          </a:bodyPr>
          <a:lstStyle/>
          <a:p>
            <a:pPr algn="l">
              <a:lnSpc>
                <a:spcPct val="115000"/>
              </a:lnSpc>
            </a:pPr>
            <a:r>
              <a:rPr sz="1250" b="0" i="0">
                <a:solidFill>
                  <a:srgbClr val="241F16"/>
                </a:solidFill>
                <a:latin typeface="Calibri"/>
              </a:rPr>
              <a:t>Real malware features, without risking the machines doing the training. Training ran in isolated VMs, process killed the moment it strayed into dangerous territory.</a:t>
            </a:r>
          </a:p>
        </p:txBody>
      </p:sp>
      <p:sp>
        <p:nvSpPr>
          <p:cNvPr id="8" name="TextBox 7"/>
          <p:cNvSpPr txBox="1"/>
          <p:nvPr/>
        </p:nvSpPr>
        <p:spPr>
          <a:xfrm>
            <a:off x="502920" y="2221992"/>
            <a:ext cx="1737360" cy="457200"/>
          </a:xfrm>
          <a:prstGeom prst="rect">
            <a:avLst/>
          </a:prstGeom>
          <a:noFill/>
        </p:spPr>
        <p:txBody>
          <a:bodyPr wrap="square">
            <a:spAutoFit/>
          </a:bodyPr>
          <a:lstStyle/>
          <a:p>
            <a:pPr algn="l">
              <a:lnSpc>
                <a:spcPct val="115000"/>
              </a:lnSpc>
            </a:pPr>
            <a:r>
              <a:rPr sz="1100" b="0" i="0">
                <a:solidFill>
                  <a:srgbClr val="6B6252"/>
                </a:solidFill>
                <a:latin typeface="Consolas"/>
              </a:rPr>
              <a:t>Offline bar</a:t>
            </a:r>
          </a:p>
        </p:txBody>
      </p:sp>
      <p:sp>
        <p:nvSpPr>
          <p:cNvPr id="9" name="TextBox 8"/>
          <p:cNvSpPr txBox="1"/>
          <p:nvPr/>
        </p:nvSpPr>
        <p:spPr>
          <a:xfrm>
            <a:off x="2331720" y="2221992"/>
            <a:ext cx="9357055" cy="914400"/>
          </a:xfrm>
          <a:prstGeom prst="rect">
            <a:avLst/>
          </a:prstGeom>
          <a:noFill/>
        </p:spPr>
        <p:txBody>
          <a:bodyPr wrap="square">
            <a:spAutoFit/>
          </a:bodyPr>
          <a:lstStyle/>
          <a:p>
            <a:pPr algn="l">
              <a:lnSpc>
                <a:spcPct val="115000"/>
              </a:lnSpc>
            </a:pPr>
            <a:r>
              <a:rPr sz="1250" b="0" i="0">
                <a:solidFill>
                  <a:srgbClr val="241F16"/>
                </a:solidFill>
                <a:latin typeface="Calibri"/>
              </a:rPr>
              <a:t>Treated as load-bearing, not aspirational: no scan, verdict, or quarantine action depends on reaching anything off-box.</a:t>
            </a:r>
          </a:p>
        </p:txBody>
      </p:sp>
      <p:sp>
        <p:nvSpPr>
          <p:cNvPr id="10" name="TextBox 9"/>
          <p:cNvSpPr txBox="1"/>
          <p:nvPr/>
        </p:nvSpPr>
        <p:spPr>
          <a:xfrm>
            <a:off x="502920" y="3392424"/>
            <a:ext cx="1737360" cy="457200"/>
          </a:xfrm>
          <a:prstGeom prst="rect">
            <a:avLst/>
          </a:prstGeom>
          <a:noFill/>
        </p:spPr>
        <p:txBody>
          <a:bodyPr wrap="square">
            <a:spAutoFit/>
          </a:bodyPr>
          <a:lstStyle/>
          <a:p>
            <a:pPr algn="l">
              <a:lnSpc>
                <a:spcPct val="115000"/>
              </a:lnSpc>
            </a:pPr>
            <a:r>
              <a:rPr sz="1100" b="0" i="0">
                <a:solidFill>
                  <a:srgbClr val="6B6252"/>
                </a:solidFill>
                <a:latin typeface="Consolas"/>
              </a:rPr>
              <a:t>Threat research</a:t>
            </a:r>
          </a:p>
        </p:txBody>
      </p:sp>
      <p:sp>
        <p:nvSpPr>
          <p:cNvPr id="11" name="TextBox 10"/>
          <p:cNvSpPr txBox="1"/>
          <p:nvPr/>
        </p:nvSpPr>
        <p:spPr>
          <a:xfrm>
            <a:off x="2331720" y="3392424"/>
            <a:ext cx="9357055" cy="914400"/>
          </a:xfrm>
          <a:prstGeom prst="rect">
            <a:avLst/>
          </a:prstGeom>
          <a:noFill/>
        </p:spPr>
        <p:txBody>
          <a:bodyPr wrap="square">
            <a:spAutoFit/>
          </a:bodyPr>
          <a:lstStyle/>
          <a:p>
            <a:pPr algn="l">
              <a:lnSpc>
                <a:spcPct val="115000"/>
              </a:lnSpc>
            </a:pPr>
            <a:r>
              <a:rPr sz="1250" b="0" i="0">
                <a:solidFill>
                  <a:srgbClr val="241F16"/>
                </a:solidFill>
                <a:latin typeface="Calibri"/>
              </a:rPr>
              <a:t>Consumer malware reporting doesn't map cleanly onto a high-assurance threat model, so detectors were built around generalizable primitives, not one narrow attack corpus.</a:t>
            </a:r>
          </a:p>
        </p:txBody>
      </p:sp>
      <p:sp>
        <p:nvSpPr>
          <p:cNvPr id="12" name="TextBox 11"/>
          <p:cNvSpPr txBox="1"/>
          <p:nvPr/>
        </p:nvSpPr>
        <p:spPr>
          <a:xfrm>
            <a:off x="502920" y="4562856"/>
            <a:ext cx="1737360" cy="457200"/>
          </a:xfrm>
          <a:prstGeom prst="rect">
            <a:avLst/>
          </a:prstGeom>
          <a:noFill/>
        </p:spPr>
        <p:txBody>
          <a:bodyPr wrap="square">
            <a:spAutoFit/>
          </a:bodyPr>
          <a:lstStyle/>
          <a:p>
            <a:pPr algn="l">
              <a:lnSpc>
                <a:spcPct val="115000"/>
              </a:lnSpc>
            </a:pPr>
            <a:r>
              <a:rPr sz="1100" b="0" i="0">
                <a:solidFill>
                  <a:srgbClr val="6B6252"/>
                </a:solidFill>
                <a:latin typeface="Consolas"/>
              </a:rPr>
              <a:t>No cloud budget</a:t>
            </a:r>
          </a:p>
        </p:txBody>
      </p:sp>
      <p:sp>
        <p:nvSpPr>
          <p:cNvPr id="13" name="TextBox 12"/>
          <p:cNvSpPr txBox="1"/>
          <p:nvPr/>
        </p:nvSpPr>
        <p:spPr>
          <a:xfrm>
            <a:off x="2331720" y="4562856"/>
            <a:ext cx="9357055" cy="914400"/>
          </a:xfrm>
          <a:prstGeom prst="rect">
            <a:avLst/>
          </a:prstGeom>
          <a:noFill/>
        </p:spPr>
        <p:txBody>
          <a:bodyPr wrap="square">
            <a:spAutoFit/>
          </a:bodyPr>
          <a:lstStyle/>
          <a:p>
            <a:pPr algn="l">
              <a:lnSpc>
                <a:spcPct val="115000"/>
              </a:lnSpc>
            </a:pPr>
            <a:r>
              <a:rPr sz="1250" b="0" i="0">
                <a:solidFill>
                  <a:srgbClr val="241F16"/>
                </a:solidFill>
                <a:latin typeface="Calibri"/>
              </a:rPr>
              <a:t>Every training run, every CI check, every test in the 216-test suite runs on ordinary developer hardware. That's itself evidence the system doesn't secretly need infrastructure a real deployment wouldn't have.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HONEST LIMITS</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11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Limitations and future work</a:t>
            </a:r>
          </a:p>
        </p:txBody>
      </p:sp>
      <p:sp>
        <p:nvSpPr>
          <p:cNvPr id="6" name="Rectangle 5"/>
          <p:cNvSpPr/>
          <p:nvPr/>
        </p:nvSpPr>
        <p:spPr>
          <a:xfrm>
            <a:off x="502920" y="1051560"/>
            <a:ext cx="11185855" cy="1051560"/>
          </a:xfrm>
          <a:prstGeom prst="rect">
            <a:avLst/>
          </a:prstGeom>
          <a:solidFill>
            <a:srgbClr val="EAE4D4"/>
          </a:solidFill>
          <a:ln>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tIns="101600"/>
          <a:lstStyle/>
          <a:p>
            <a:pPr algn="ctr"/>
            <a:r>
              <a:rPr sz="1000" b="1">
                <a:solidFill>
                  <a:srgbClr val="4B3F7A"/>
                </a:solidFill>
                <a:latin typeface="Consolas"/>
              </a:rPr>
              <a:t>RANSOMWARE MODEL</a:t>
            </a:r>
          </a:p>
          <a:p>
            <a:r>
              <a:rPr sz="1250">
                <a:solidFill>
                  <a:srgbClr val="241F16"/>
                </a:solidFill>
                <a:latin typeface="Calibri"/>
              </a:rPr>
              <a:t>No ransomware-labeled dataset or classifier yet. The log-anomaly pipeline is the right primitive, positioned for it, not claiming it's done.</a:t>
            </a:r>
          </a:p>
        </p:txBody>
      </p:sp>
      <p:sp>
        <p:nvSpPr>
          <p:cNvPr id="7" name="Rectangle 6"/>
          <p:cNvSpPr/>
          <p:nvPr/>
        </p:nvSpPr>
        <p:spPr>
          <a:xfrm>
            <a:off x="502920" y="2286000"/>
            <a:ext cx="11185855" cy="1051560"/>
          </a:xfrm>
          <a:prstGeom prst="rect">
            <a:avLst/>
          </a:prstGeom>
          <a:solidFill>
            <a:srgbClr val="EAE4D4"/>
          </a:solidFill>
          <a:ln>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tIns="101600"/>
          <a:lstStyle/>
          <a:p>
            <a:pPr algn="ctr"/>
            <a:r>
              <a:rPr sz="1000" b="1">
                <a:solidFill>
                  <a:srgbClr val="4B3F7A"/>
                </a:solidFill>
                <a:latin typeface="Consolas"/>
              </a:rPr>
              <a:t>SHELVED PIPELINE</a:t>
            </a:r>
          </a:p>
          <a:p>
            <a:r>
              <a:rPr sz="1250">
                <a:solidFill>
                  <a:srgbClr val="241F16"/>
                </a:solidFill>
                <a:latin typeface="Calibri"/>
              </a:rPr>
              <a:t>A separate TLS/encrypted-traffic-analysis pipeline exists in the repo but was never wired to real data or the live backend. Deliberately shelved, not silently abandoned.</a:t>
            </a:r>
          </a:p>
        </p:txBody>
      </p:sp>
      <p:sp>
        <p:nvSpPr>
          <p:cNvPr id="8" name="Rectangle 7"/>
          <p:cNvSpPr/>
          <p:nvPr/>
        </p:nvSpPr>
        <p:spPr>
          <a:xfrm>
            <a:off x="502920" y="3520440"/>
            <a:ext cx="11185855" cy="1051560"/>
          </a:xfrm>
          <a:prstGeom prst="rect">
            <a:avLst/>
          </a:prstGeom>
          <a:solidFill>
            <a:srgbClr val="EAE4D4"/>
          </a:solidFill>
          <a:ln>
            <a:solidFill>
              <a:srgbClr val="C7BCA2"/>
            </a:solidFill>
          </a:ln>
          <a:effectLst/>
        </p:spPr>
        <p:style>
          <a:lnRef idx="1">
            <a:schemeClr val="accent1"/>
          </a:lnRef>
          <a:fillRef idx="3">
            <a:schemeClr val="accent1"/>
          </a:fillRef>
          <a:effectRef idx="2">
            <a:schemeClr val="accent1"/>
          </a:effectRef>
          <a:fontRef idx="minor">
            <a:schemeClr val="lt1"/>
          </a:fontRef>
        </p:style>
        <p:txBody>
          <a:bodyPr rtlCol="0" anchor="ctr" wrap="square" lIns="177800" tIns="101600"/>
          <a:lstStyle/>
          <a:p>
            <a:pPr algn="ctr"/>
            <a:r>
              <a:rPr sz="1000" b="1">
                <a:solidFill>
                  <a:srgbClr val="4B3F7A"/>
                </a:solidFill>
                <a:latin typeface="Consolas"/>
              </a:rPr>
              <a:t>CAPE SANDBOX ADAPTER</a:t>
            </a:r>
          </a:p>
          <a:p>
            <a:r>
              <a:rPr sz="1250">
                <a:solidFill>
                  <a:srgbClr val="241F16"/>
                </a:solidFill>
                <a:latin typeface="Calibri"/>
              </a:rPr>
              <a:t>Planned, documented as a NotImplementedError stub. External by design, since CAPE is GPLv3-licensed.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320040"/>
            <a:ext cx="3657600" cy="320040"/>
          </a:xfrm>
          <a:prstGeom prst="rect">
            <a:avLst/>
          </a:prstGeom>
          <a:noFill/>
        </p:spPr>
        <p:txBody>
          <a:bodyPr wrap="square">
            <a:spAutoFit/>
          </a:bodyPr>
          <a:lstStyle/>
          <a:p>
            <a:pPr algn="l">
              <a:lnSpc>
                <a:spcPct val="115000"/>
              </a:lnSpc>
            </a:pPr>
            <a:r>
              <a:rPr sz="1100" b="0" i="0">
                <a:solidFill>
                  <a:srgbClr val="6B6252"/>
                </a:solidFill>
                <a:latin typeface="Consolas"/>
              </a:rPr>
              <a:t>DEMO</a:t>
            </a:r>
          </a:p>
        </p:txBody>
      </p:sp>
      <p:sp>
        <p:nvSpPr>
          <p:cNvPr id="3" name="TextBox 2"/>
          <p:cNvSpPr txBox="1"/>
          <p:nvPr/>
        </p:nvSpPr>
        <p:spPr>
          <a:xfrm>
            <a:off x="9859975" y="320040"/>
            <a:ext cx="1828800" cy="320040"/>
          </a:xfrm>
          <a:prstGeom prst="rect">
            <a:avLst/>
          </a:prstGeom>
          <a:noFill/>
        </p:spPr>
        <p:txBody>
          <a:bodyPr wrap="square">
            <a:spAutoFit/>
          </a:bodyPr>
          <a:lstStyle/>
          <a:p>
            <a:pPr algn="r">
              <a:lnSpc>
                <a:spcPct val="115000"/>
              </a:lnSpc>
            </a:pPr>
            <a:r>
              <a:rPr sz="1100" b="0" i="0">
                <a:solidFill>
                  <a:srgbClr val="6B6252"/>
                </a:solidFill>
                <a:latin typeface="Consolas"/>
              </a:rPr>
              <a:t>12 / 12</a:t>
            </a:r>
          </a:p>
        </p:txBody>
      </p:sp>
      <p:sp>
        <p:nvSpPr>
          <p:cNvPr id="4" name="Rectangle 3"/>
          <p:cNvSpPr/>
          <p:nvPr/>
        </p:nvSpPr>
        <p:spPr>
          <a:xfrm>
            <a:off x="502920" y="685800"/>
            <a:ext cx="11185855" cy="12700"/>
          </a:xfrm>
          <a:prstGeom prst="rect">
            <a:avLst/>
          </a:prstGeom>
          <a:solidFill>
            <a:srgbClr val="C7BC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68680"/>
            <a:ext cx="11185855" cy="640080"/>
          </a:xfrm>
          <a:prstGeom prst="rect">
            <a:avLst/>
          </a:prstGeom>
          <a:noFill/>
        </p:spPr>
        <p:txBody>
          <a:bodyPr wrap="square">
            <a:spAutoFit/>
          </a:bodyPr>
          <a:lstStyle/>
          <a:p>
            <a:pPr algn="l">
              <a:lnSpc>
                <a:spcPct val="115000"/>
              </a:lnSpc>
            </a:pPr>
            <a:r>
              <a:rPr sz="2800" b="1" i="0">
                <a:solidFill>
                  <a:srgbClr val="241F16"/>
                </a:solidFill>
                <a:latin typeface="Georgia"/>
              </a:rPr>
              <a:t>Demo walkthrough</a:t>
            </a:r>
          </a:p>
        </p:txBody>
      </p:sp>
      <p:sp>
        <p:nvSpPr>
          <p:cNvPr id="6" name="TextBox 5"/>
          <p:cNvSpPr txBox="1"/>
          <p:nvPr/>
        </p:nvSpPr>
        <p:spPr>
          <a:xfrm>
            <a:off x="502920" y="1097280"/>
            <a:ext cx="11185855" cy="1463040"/>
          </a:xfrm>
          <a:prstGeom prst="rect">
            <a:avLst/>
          </a:prstGeom>
          <a:noFill/>
        </p:spPr>
        <p:txBody>
          <a:bodyPr wrap="square">
            <a:spAutoFit/>
          </a:bodyPr>
          <a:lstStyle/>
          <a:p>
            <a:pPr algn="l">
              <a:lnSpc>
                <a:spcPct val="115000"/>
              </a:lnSpc>
            </a:pPr>
            <a:r>
              <a:rPr sz="1400" b="0" i="0">
                <a:solidFill>
                  <a:srgbClr val="241F16"/>
                </a:solidFill>
                <a:latin typeface="Calibri"/>
              </a:rPr>
              <a:t>The demo video covers, in order: a live file scan and verdict, background log tailing with real anomaly flags landing in the UI, an encrypted-quarantine restore and delete cycle, and the adjustable UI with a live theme toggle, all against the real running backend, no mocked data.</a:t>
            </a:r>
          </a:p>
        </p:txBody>
      </p:sp>
      <p:sp>
        <p:nvSpPr>
          <p:cNvPr id="7" name="TextBox 6"/>
          <p:cNvSpPr txBox="1"/>
          <p:nvPr/>
        </p:nvSpPr>
        <p:spPr>
          <a:xfrm>
            <a:off x="502920" y="2651760"/>
            <a:ext cx="11185855" cy="457200"/>
          </a:xfrm>
          <a:prstGeom prst="rect">
            <a:avLst/>
          </a:prstGeom>
          <a:noFill/>
        </p:spPr>
        <p:txBody>
          <a:bodyPr wrap="square">
            <a:spAutoFit/>
          </a:bodyPr>
          <a:lstStyle/>
          <a:p>
            <a:pPr algn="l">
              <a:lnSpc>
                <a:spcPct val="115000"/>
              </a:lnSpc>
            </a:pPr>
            <a:r>
              <a:rPr sz="1200" b="0" i="0">
                <a:solidFill>
                  <a:srgbClr val="6B6252"/>
                </a:solidFill>
                <a:latin typeface="Consolas"/>
              </a:rPr>
              <a:t>Full shot-by-shot script: hackathon/demo-video-script.md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502920" y="2743200"/>
            <a:ext cx="11185855" cy="1005840"/>
          </a:xfrm>
          <a:prstGeom prst="rect">
            <a:avLst/>
          </a:prstGeom>
          <a:noFill/>
        </p:spPr>
        <p:txBody>
          <a:bodyPr wrap="square">
            <a:spAutoFit/>
          </a:bodyPr>
          <a:lstStyle/>
          <a:p>
            <a:pPr algn="ctr">
              <a:lnSpc>
                <a:spcPct val="115000"/>
              </a:lnSpc>
            </a:pPr>
            <a:r>
              <a:rPr sz="5200" b="1" i="0">
                <a:solidFill>
                  <a:srgbClr val="241F16"/>
                </a:solidFill>
                <a:latin typeface="Georgia"/>
              </a:rPr>
              <a:t>RAKSHAK</a:t>
            </a:r>
          </a:p>
        </p:txBody>
      </p:sp>
      <p:sp>
        <p:nvSpPr>
          <p:cNvPr id="3" name="TextBox 2"/>
          <p:cNvSpPr txBox="1"/>
          <p:nvPr/>
        </p:nvSpPr>
        <p:spPr>
          <a:xfrm>
            <a:off x="502920" y="3566160"/>
            <a:ext cx="11185855" cy="548640"/>
          </a:xfrm>
          <a:prstGeom prst="rect">
            <a:avLst/>
          </a:prstGeom>
          <a:noFill/>
        </p:spPr>
        <p:txBody>
          <a:bodyPr wrap="square">
            <a:spAutoFit/>
          </a:bodyPr>
          <a:lstStyle/>
          <a:p>
            <a:pPr algn="ctr">
              <a:lnSpc>
                <a:spcPct val="115000"/>
              </a:lnSpc>
            </a:pPr>
            <a:r>
              <a:rPr sz="1600" b="0" i="1">
                <a:solidFill>
                  <a:srgbClr val="6B6252"/>
                </a:solidFill>
                <a:latin typeface="Georgia"/>
              </a:rPr>
              <a:t>Hybrid classical and quantum threat detection, built real, scored honest.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